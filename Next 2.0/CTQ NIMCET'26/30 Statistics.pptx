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4" r:id="rId2"/>
    <p:sldId id="360" r:id="rId3"/>
    <p:sldId id="361" r:id="rId4"/>
    <p:sldId id="362" r:id="rId5"/>
    <p:sldId id="363" r:id="rId6"/>
    <p:sldId id="364" r:id="rId7"/>
    <p:sldId id="365" r:id="rId8"/>
    <p:sldId id="366" r:id="rId9"/>
    <p:sldId id="367" r:id="rId10"/>
    <p:sldId id="368" r:id="rId11"/>
    <p:sldId id="369" r:id="rId12"/>
    <p:sldId id="370" r:id="rId13"/>
    <p:sldId id="371" r:id="rId14"/>
    <p:sldId id="372" r:id="rId15"/>
    <p:sldId id="373" r:id="rId16"/>
    <p:sldId id="374" r:id="rId17"/>
    <p:sldId id="375" r:id="rId18"/>
    <p:sldId id="376" r:id="rId19"/>
    <p:sldId id="377" r:id="rId20"/>
    <p:sldId id="378" r:id="rId21"/>
    <p:sldId id="379" r:id="rId22"/>
    <p:sldId id="380" r:id="rId23"/>
    <p:sldId id="381" r:id="rId24"/>
    <p:sldId id="382" r:id="rId25"/>
    <p:sldId id="383" r:id="rId26"/>
    <p:sldId id="384" r:id="rId27"/>
    <p:sldId id="3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91A04-88A8-9E54-EFB5-4339B9A3A5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6FC225-1A7B-C245-6C76-11E79DA919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8B02DE-8EE3-A74D-9007-44B37755801F}"/>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303EA9FA-5436-5B8F-BAFA-E588EB80AB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803238-9E9A-F72C-7145-7AE9D5F93F47}"/>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065859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B772B-6435-A7CD-8B51-80B95394E3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203799-F8B4-BE78-5C26-4656BDEB08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33635-CE1C-36B9-1D07-4ECCD925E143}"/>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57B58391-1578-FFF3-4E06-23E9E49C93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61E9CC-52B9-D6E8-0E08-EBA85875230B}"/>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139785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F22B6-570B-DB58-3F4F-A666A12512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7F96F4-DAF5-7D90-023F-CF4A6F0C03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3FE561-F1D7-ECF2-5F93-CE1694163556}"/>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B6D99A9B-8A66-A0EA-0651-DA3B4D150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60E2C-871A-4737-4116-0C061ED459A9}"/>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318657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4B1CE-713C-E4F7-4A65-BC461E2E1B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543273-E263-891F-A663-A149CE09FB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189C15-073F-AB5D-45D7-F8262A270E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2FC861-FF3C-2FCA-37DD-402E9A294988}"/>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6" name="Footer Placeholder 5">
            <a:extLst>
              <a:ext uri="{FF2B5EF4-FFF2-40B4-BE49-F238E27FC236}">
                <a16:creationId xmlns:a16="http://schemas.microsoft.com/office/drawing/2014/main" id="{D7355997-E8E5-CF18-A8F2-AFBBEA5BA3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2246A2-C840-F5C6-E928-2D47676BF609}"/>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70174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3A13-2B9C-C99E-838C-05BE937729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15CEFA-2C37-55F0-A1F0-2E169E2063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8E9EDE-655D-328C-2E60-5891B76BCC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0AA980-BFB4-6A28-DFD7-A62CFE17C8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D75111-65C6-8108-488B-1EF457A11C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DD06FB-F34B-51CF-0FFF-66DC82FADF18}"/>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8" name="Footer Placeholder 7">
            <a:extLst>
              <a:ext uri="{FF2B5EF4-FFF2-40B4-BE49-F238E27FC236}">
                <a16:creationId xmlns:a16="http://schemas.microsoft.com/office/drawing/2014/main" id="{42B0F3D2-6BBD-8079-4A8D-EDFC3A451A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0DBDCD-4043-B8D2-5586-5A0EA87EAC45}"/>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365458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2FC07-D03D-CEC7-B58F-9DD9D5F4C4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CCF43F-6D23-E29C-EE44-6B8D01AA666E}"/>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4" name="Footer Placeholder 3">
            <a:extLst>
              <a:ext uri="{FF2B5EF4-FFF2-40B4-BE49-F238E27FC236}">
                <a16:creationId xmlns:a16="http://schemas.microsoft.com/office/drawing/2014/main" id="{8DDB2571-0606-D658-E4B2-2E689887D4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F51D47-C6CA-FE61-E63F-F5EE46DE925E}"/>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225033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91506B-78ED-E0B6-DB09-9C7C99CC96CB}"/>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3" name="Footer Placeholder 2">
            <a:extLst>
              <a:ext uri="{FF2B5EF4-FFF2-40B4-BE49-F238E27FC236}">
                <a16:creationId xmlns:a16="http://schemas.microsoft.com/office/drawing/2014/main" id="{F0FB04AB-A652-8F3F-F544-22BE829957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34138D-61E7-9991-32C7-F5B3261AE786}"/>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1088929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9281-BD67-7163-5727-486333AAF7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3AACF7-1785-2B75-969C-1428C1EA80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B82109-DE30-7B18-21F2-645F13B8A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9A8039-ACC1-1A6D-120F-25EF9DF4B5A3}"/>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6" name="Footer Placeholder 5">
            <a:extLst>
              <a:ext uri="{FF2B5EF4-FFF2-40B4-BE49-F238E27FC236}">
                <a16:creationId xmlns:a16="http://schemas.microsoft.com/office/drawing/2014/main" id="{6EF85344-550F-35EC-A414-1E9076B291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67C17-C3B0-3894-2045-641477EF2463}"/>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1701946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884BC-D52B-1579-5F9F-08B135AF94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BC3C71-24B4-F4ED-49ED-8D347E7B6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608E756-DD77-B4F1-2D30-0A68FBBADA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CE4AD9-FCDE-8C8E-A5C9-C476D52102F3}"/>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6" name="Footer Placeholder 5">
            <a:extLst>
              <a:ext uri="{FF2B5EF4-FFF2-40B4-BE49-F238E27FC236}">
                <a16:creationId xmlns:a16="http://schemas.microsoft.com/office/drawing/2014/main" id="{9C136380-9C37-52F9-2E31-2614C7A2A2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DA46A-65C6-9682-BBD9-B6CF5CD4A6F1}"/>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03530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710C-A191-52ED-4C2F-424466B356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952904-BE20-0545-6358-2F8AAF8D78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2E0C85-EF4C-2704-7CC3-01FC9B2B8D7F}"/>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850CB130-1DF2-2721-DCD2-9D3F9B4D5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7ECE1-62C8-5F91-81CD-7C56D1E75147}"/>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2123986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7980F2-0E17-F534-DE65-676D54723F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164F64-977A-581F-42DE-A1CD95902B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B96A3-AF09-49A3-6266-CF4FAF76AA1D}"/>
              </a:ext>
            </a:extLst>
          </p:cNvPr>
          <p:cNvSpPr>
            <a:spLocks noGrp="1"/>
          </p:cNvSpPr>
          <p:nvPr>
            <p:ph type="dt" sz="half" idx="10"/>
          </p:nvPr>
        </p:nvSpPr>
        <p:spPr/>
        <p:txBody>
          <a:body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21679F55-F42E-4EFF-CDD4-F6FE11ED87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ACB8E-1AB6-76F0-5F7E-D35D36D667F2}"/>
              </a:ext>
            </a:extLst>
          </p:cNvPr>
          <p:cNvSpPr>
            <a:spLocks noGrp="1"/>
          </p:cNvSpPr>
          <p:nvPr>
            <p:ph type="sldNum" sz="quarter" idx="12"/>
          </p:nvPr>
        </p:nvSpPr>
        <p:spPr/>
        <p:txBody>
          <a:bodyPr/>
          <a:lstStyle/>
          <a:p>
            <a:fld id="{AEC3D2FB-F1C0-40A9-898D-37978FD51E23}" type="slidenum">
              <a:rPr lang="en-US" smtClean="0"/>
              <a:t>‹#›</a:t>
            </a:fld>
            <a:endParaRPr lang="en-US"/>
          </a:p>
        </p:txBody>
      </p:sp>
    </p:spTree>
    <p:extLst>
      <p:ext uri="{BB962C8B-B14F-4D97-AF65-F5344CB8AC3E}">
        <p14:creationId xmlns:p14="http://schemas.microsoft.com/office/powerpoint/2010/main" val="699044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585E29-8DB5-8ACA-E5C0-C3D7DAC67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8CE0C6-C619-7CC3-C66A-F3A77BD0D9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98FFD4-F042-EAAF-20AB-CD78273DDF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C2935-E803-48C3-A262-0A5393BEE9CE}" type="datetimeFigureOut">
              <a:rPr lang="en-US" smtClean="0"/>
              <a:t>5/17/2023</a:t>
            </a:fld>
            <a:endParaRPr lang="en-US"/>
          </a:p>
        </p:txBody>
      </p:sp>
      <p:sp>
        <p:nvSpPr>
          <p:cNvPr id="5" name="Footer Placeholder 4">
            <a:extLst>
              <a:ext uri="{FF2B5EF4-FFF2-40B4-BE49-F238E27FC236}">
                <a16:creationId xmlns:a16="http://schemas.microsoft.com/office/drawing/2014/main" id="{E3BCDBCA-A29A-5E69-822A-A47C1A69F4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1F54BA-8570-3B0E-C294-9B7FE0ED98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C3D2FB-F1C0-40A9-898D-37978FD51E23}" type="slidenum">
              <a:rPr lang="en-US" smtClean="0"/>
              <a:t>‹#›</a:t>
            </a:fld>
            <a:endParaRPr lang="en-US"/>
          </a:p>
        </p:txBody>
      </p:sp>
    </p:spTree>
    <p:extLst>
      <p:ext uri="{BB962C8B-B14F-4D97-AF65-F5344CB8AC3E}">
        <p14:creationId xmlns:p14="http://schemas.microsoft.com/office/powerpoint/2010/main" val="2482995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30343C-5591-962C-4635-5421D888C1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93672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5632311"/>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average marks per student in a class of 30 students were 45. On rechecking it was found that marks had been entered wrongly in two cases. After correction these marks were increased by 24 and 34 in the two cases. The correct average marks per student are </a:t>
            </a:r>
          </a:p>
          <a:p>
            <a:pPr algn="just"/>
            <a:r>
              <a:rPr lang="en-US" sz="3600" dirty="0">
                <a:solidFill>
                  <a:srgbClr val="FFFF00"/>
                </a:solidFill>
                <a:latin typeface="Cambria Math" panose="02040503050406030204" pitchFamily="18" charset="0"/>
                <a:ea typeface="Cambria Math" panose="02040503050406030204" pitchFamily="18" charset="0"/>
              </a:rPr>
              <a:t>(a) 75 		(b) 60 </a:t>
            </a:r>
          </a:p>
          <a:p>
            <a:pPr algn="just"/>
            <a:r>
              <a:rPr lang="en-US" sz="3600" dirty="0">
                <a:solidFill>
                  <a:srgbClr val="FFFF00"/>
                </a:solidFill>
                <a:latin typeface="Cambria Math" panose="02040503050406030204" pitchFamily="18" charset="0"/>
                <a:ea typeface="Cambria Math" panose="02040503050406030204" pitchFamily="18" charset="0"/>
              </a:rPr>
              <a:t>(c) 56 		(d) 47</a:t>
            </a:r>
          </a:p>
          <a:p>
            <a:pPr algn="just"/>
            <a:r>
              <a:rPr lang="en-US" sz="3600" dirty="0">
                <a:solidFill>
                  <a:srgbClr val="FFFF00"/>
                </a:solidFill>
                <a:latin typeface="Cambria Math" panose="02040503050406030204" pitchFamily="18" charset="0"/>
                <a:ea typeface="Cambria Math" panose="02040503050406030204" pitchFamily="18" charset="0"/>
              </a:rPr>
              <a:t>					[NIMCET 2010]</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850417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091487"/>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mean of first n natural numbers is equal to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+7</m:t>
                        </m:r>
                      </m:num>
                      <m:den>
                        <m:r>
                          <a:rPr lang="en-US" sz="3600" i="1" dirty="0" smtClean="0">
                            <a:solidFill>
                              <a:srgbClr val="FFFF00"/>
                            </a:solidFill>
                            <a:latin typeface="Cambria Math" panose="02040503050406030204" pitchFamily="18" charset="0"/>
                            <a:ea typeface="Cambria Math" panose="02040503050406030204" pitchFamily="18" charset="0"/>
                          </a:rPr>
                          <m:t>3</m:t>
                        </m:r>
                      </m:den>
                    </m:f>
                  </m:oMath>
                </a14:m>
                <a:r>
                  <a:rPr lang="en-US" sz="3600" dirty="0">
                    <a:solidFill>
                      <a:srgbClr val="FFFF00"/>
                    </a:solidFill>
                    <a:latin typeface="Cambria Math" panose="02040503050406030204" pitchFamily="18" charset="0"/>
                    <a:ea typeface="Cambria Math" panose="02040503050406030204" pitchFamily="18" charset="0"/>
                  </a:rPr>
                  <a:t>, then 'n' is equal to </a:t>
                </a:r>
              </a:p>
              <a:p>
                <a:pPr algn="just"/>
                <a:r>
                  <a:rPr lang="en-US" sz="3600" dirty="0">
                    <a:solidFill>
                      <a:srgbClr val="FFFF00"/>
                    </a:solidFill>
                    <a:latin typeface="Cambria Math" panose="02040503050406030204" pitchFamily="18" charset="0"/>
                    <a:ea typeface="Cambria Math" panose="02040503050406030204" pitchFamily="18" charset="0"/>
                  </a:rPr>
                  <a:t>(a) 9		(b) 10</a:t>
                </a:r>
              </a:p>
              <a:p>
                <a:pPr algn="just"/>
                <a:r>
                  <a:rPr lang="en-US" sz="3600" dirty="0">
                    <a:solidFill>
                      <a:srgbClr val="FFFF00"/>
                    </a:solidFill>
                    <a:latin typeface="Cambria Math" panose="02040503050406030204" pitchFamily="18" charset="0"/>
                    <a:ea typeface="Cambria Math" panose="02040503050406030204" pitchFamily="18" charset="0"/>
                  </a:rPr>
                  <a:t>(c) 11		(d) 12</a:t>
                </a:r>
              </a:p>
              <a:p>
                <a:pPr algn="r"/>
                <a:r>
                  <a:rPr lang="en-US" sz="3600" dirty="0">
                    <a:solidFill>
                      <a:srgbClr val="FFFF00"/>
                    </a:solidFill>
                    <a:latin typeface="Cambria Math" panose="02040503050406030204" pitchFamily="18" charset="0"/>
                    <a:ea typeface="Cambria Math" panose="02040503050406030204" pitchFamily="18" charset="0"/>
                  </a:rPr>
                  <a:t>[NIMCET 2011]</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3091487"/>
              </a:xfrm>
              <a:prstGeom prst="rect">
                <a:avLst/>
              </a:prstGeom>
              <a:blipFill>
                <a:blip r:embed="rId2"/>
                <a:stretch>
                  <a:fillRect l="-1750" r="-1750" b="-6509"/>
                </a:stretch>
              </a:blipFill>
            </p:spPr>
            <p:txBody>
              <a:bodyPr/>
              <a:lstStyle/>
              <a:p>
                <a:r>
                  <a:rPr lang="en-US">
                    <a:noFill/>
                  </a:rPr>
                  <a:t> </a:t>
                </a:r>
              </a:p>
            </p:txBody>
          </p:sp>
        </mc:Fallback>
      </mc:AlternateContent>
    </p:spTree>
    <p:extLst>
      <p:ext uri="{BB962C8B-B14F-4D97-AF65-F5344CB8AC3E}">
        <p14:creationId xmlns:p14="http://schemas.microsoft.com/office/powerpoint/2010/main" val="503649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5034327"/>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A car completes the first half of its journey with a velocity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1</m:t>
                        </m:r>
                      </m:sub>
                    </m:sSub>
                  </m:oMath>
                </a14:m>
                <a:r>
                  <a:rPr lang="en-US" sz="3600" dirty="0">
                    <a:solidFill>
                      <a:srgbClr val="FFFF00"/>
                    </a:solidFill>
                    <a:latin typeface="Cambria Math" panose="02040503050406030204" pitchFamily="18" charset="0"/>
                    <a:ea typeface="Cambria Math" panose="02040503050406030204" pitchFamily="18" charset="0"/>
                  </a:rPr>
                  <a:t> and the rest half with a velocity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2</m:t>
                        </m:r>
                      </m:sub>
                    </m:sSub>
                  </m:oMath>
                </a14:m>
                <a:r>
                  <a:rPr lang="en-US" sz="3600" dirty="0">
                    <a:solidFill>
                      <a:srgbClr val="FFFF00"/>
                    </a:solidFill>
                    <a:latin typeface="Cambria Math" panose="02040503050406030204" pitchFamily="18" charset="0"/>
                    <a:ea typeface="Cambria Math" panose="02040503050406030204" pitchFamily="18" charset="0"/>
                  </a:rPr>
                  <a:t>. Then, the average velocity of the car for the whole journey is</a:t>
                </a:r>
              </a:p>
              <a:p>
                <a:pPr algn="just"/>
                <a:r>
                  <a:rPr lang="en-US" sz="3600" dirty="0">
                    <a:solidFill>
                      <a:srgbClr val="FFFF00"/>
                    </a:solidFill>
                    <a:latin typeface="Cambria Math" panose="02040503050406030204" pitchFamily="18" charset="0"/>
                    <a:ea typeface="Cambria Math" panose="02040503050406030204" pitchFamily="18" charset="0"/>
                  </a:rPr>
                  <a:t>(a)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1</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2</m:t>
                            </m:r>
                          </m:sub>
                        </m:sSub>
                      </m:num>
                      <m:den>
                        <m:r>
                          <a:rPr lang="en-US" sz="3600" i="1" dirty="0" smtClean="0">
                            <a:solidFill>
                              <a:srgbClr val="FFFF00"/>
                            </a:solidFill>
                            <a:latin typeface="Cambria Math" panose="02040503050406030204" pitchFamily="18" charset="0"/>
                            <a:ea typeface="Cambria Math" panose="02040503050406030204" pitchFamily="18" charset="0"/>
                          </a:rPr>
                          <m:t>2</m:t>
                        </m:r>
                      </m:den>
                    </m:f>
                  </m:oMath>
                </a14:m>
                <a:r>
                  <a:rPr lang="en-US" sz="3600" dirty="0">
                    <a:solidFill>
                      <a:srgbClr val="FFFF00"/>
                    </a:solidFill>
                    <a:latin typeface="Cambria Math" panose="02040503050406030204" pitchFamily="18" charset="0"/>
                    <a:ea typeface="Cambria Math" panose="02040503050406030204" pitchFamily="18" charset="0"/>
                  </a:rPr>
                  <a:t>			(b) </a:t>
                </a:r>
                <a14:m>
                  <m:oMath xmlns:m="http://schemas.openxmlformats.org/officeDocument/2006/math">
                    <m:rad>
                      <m:radPr>
                        <m:degHide m:val="on"/>
                        <m:ctrlPr>
                          <a:rPr lang="en-US" sz="3600" i="1" dirty="0" smtClean="0">
                            <a:solidFill>
                              <a:srgbClr val="FFFF00"/>
                            </a:solidFill>
                            <a:latin typeface="Cambria Math" panose="02040503050406030204" pitchFamily="18" charset="0"/>
                            <a:ea typeface="Cambria Math" panose="02040503050406030204" pitchFamily="18" charset="0"/>
                          </a:rPr>
                        </m:ctrlPr>
                      </m:radPr>
                      <m:deg/>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1</m:t>
                            </m:r>
                          </m:sub>
                        </m:sSub>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2</m:t>
                            </m:r>
                          </m:sub>
                        </m:sSub>
                      </m:e>
                    </m:rad>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2</m:t>
                        </m:r>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1</m:t>
                            </m:r>
                          </m:sub>
                        </m:sSub>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2</m:t>
                            </m:r>
                          </m:sub>
                        </m:sSub>
                      </m:num>
                      <m:den>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1</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𝑣</m:t>
                            </m:r>
                          </m:e>
                          <m:sub>
                            <m:r>
                              <a:rPr lang="en-US" sz="3600" i="1" dirty="0" smtClean="0">
                                <a:solidFill>
                                  <a:srgbClr val="FFFF00"/>
                                </a:solidFill>
                                <a:latin typeface="Cambria Math" panose="02040503050406030204" pitchFamily="18" charset="0"/>
                                <a:ea typeface="Cambria Math" panose="02040503050406030204" pitchFamily="18" charset="0"/>
                              </a:rPr>
                              <m:t>2</m:t>
                            </m:r>
                          </m:sub>
                        </m:sSub>
                      </m:den>
                    </m:f>
                  </m:oMath>
                </a14:m>
                <a:r>
                  <a:rPr lang="en-US" sz="3600" dirty="0">
                    <a:solidFill>
                      <a:srgbClr val="FFFF00"/>
                    </a:solidFill>
                    <a:latin typeface="Cambria Math" panose="02040503050406030204" pitchFamily="18" charset="0"/>
                    <a:ea typeface="Cambria Math" panose="02040503050406030204" pitchFamily="18" charset="0"/>
                  </a:rPr>
                  <a:t>			(d) None of these</a:t>
                </a:r>
              </a:p>
              <a:p>
                <a:pPr algn="just"/>
                <a:r>
                  <a:rPr lang="en-US" sz="3600" dirty="0">
                    <a:solidFill>
                      <a:srgbClr val="FFFF00"/>
                    </a:solidFill>
                    <a:latin typeface="Cambria Math" panose="02040503050406030204" pitchFamily="18" charset="0"/>
                    <a:ea typeface="Cambria Math" panose="02040503050406030204" pitchFamily="18" charset="0"/>
                  </a:rPr>
                  <a:t>[NIMCET 2011]</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5034327"/>
              </a:xfrm>
              <a:prstGeom prst="rect">
                <a:avLst/>
              </a:prstGeom>
              <a:blipFill>
                <a:blip r:embed="rId2"/>
                <a:stretch>
                  <a:fillRect l="-1750" t="-1816" r="-1750"/>
                </a:stretch>
              </a:blipFill>
            </p:spPr>
            <p:txBody>
              <a:bodyPr/>
              <a:lstStyle/>
              <a:p>
                <a:r>
                  <a:rPr lang="en-US">
                    <a:noFill/>
                  </a:rPr>
                  <a:t> </a:t>
                </a:r>
              </a:p>
            </p:txBody>
          </p:sp>
        </mc:Fallback>
      </mc:AlternateContent>
    </p:spTree>
    <p:extLst>
      <p:ext uri="{BB962C8B-B14F-4D97-AF65-F5344CB8AC3E}">
        <p14:creationId xmlns:p14="http://schemas.microsoft.com/office/powerpoint/2010/main" val="708845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416320"/>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Two variables have least square regression lines 3x+2y=26 and 6x+y=31, then correlation between x and y is </a:t>
            </a:r>
          </a:p>
          <a:p>
            <a:pPr algn="just"/>
            <a:r>
              <a:rPr lang="en-US" sz="3600" dirty="0">
                <a:solidFill>
                  <a:srgbClr val="FFFF00"/>
                </a:solidFill>
                <a:latin typeface="Cambria Math" panose="02040503050406030204" pitchFamily="18" charset="0"/>
                <a:ea typeface="Cambria Math" panose="02040503050406030204" pitchFamily="18" charset="0"/>
              </a:rPr>
              <a:t>(a) 0.5		(b) 0.7</a:t>
            </a:r>
          </a:p>
          <a:p>
            <a:pPr algn="just"/>
            <a:r>
              <a:rPr lang="en-US" sz="3600" dirty="0">
                <a:solidFill>
                  <a:srgbClr val="FFFF00"/>
                </a:solidFill>
                <a:latin typeface="Cambria Math" panose="02040503050406030204" pitchFamily="18" charset="0"/>
                <a:ea typeface="Cambria Math" panose="02040503050406030204" pitchFamily="18" charset="0"/>
              </a:rPr>
              <a:t>(c) - 0.7  		(d) -0.5	</a:t>
            </a:r>
          </a:p>
          <a:p>
            <a:pPr algn="r"/>
            <a:r>
              <a:rPr lang="en-US" sz="3600" dirty="0">
                <a:solidFill>
                  <a:srgbClr val="FFFF00"/>
                </a:solidFill>
                <a:latin typeface="Cambria Math" panose="02040503050406030204" pitchFamily="18" charset="0"/>
                <a:ea typeface="Cambria Math" panose="02040503050406030204" pitchFamily="18" charset="0"/>
              </a:rPr>
              <a:t>[NIMCET 2011]</a:t>
            </a:r>
          </a:p>
        </p:txBody>
      </p:sp>
    </p:spTree>
    <p:extLst>
      <p:ext uri="{BB962C8B-B14F-4D97-AF65-F5344CB8AC3E}">
        <p14:creationId xmlns:p14="http://schemas.microsoft.com/office/powerpoint/2010/main" val="2520659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2862322"/>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the mean of the squares of first n natural numbers be 11, then n is equal to </a:t>
            </a:r>
          </a:p>
          <a:p>
            <a:pPr algn="just"/>
            <a:r>
              <a:rPr lang="en-US" sz="3600" dirty="0">
                <a:solidFill>
                  <a:srgbClr val="FFFF00"/>
                </a:solidFill>
                <a:latin typeface="Cambria Math" panose="02040503050406030204" pitchFamily="18" charset="0"/>
                <a:ea typeface="Cambria Math" panose="02040503050406030204" pitchFamily="18" charset="0"/>
              </a:rPr>
              <a:t>(a) -13/2		(b) 11</a:t>
            </a:r>
          </a:p>
          <a:p>
            <a:pPr algn="just"/>
            <a:r>
              <a:rPr lang="en-US" sz="3600" dirty="0">
                <a:solidFill>
                  <a:srgbClr val="FFFF00"/>
                </a:solidFill>
                <a:latin typeface="Cambria Math" panose="02040503050406030204" pitchFamily="18" charset="0"/>
                <a:ea typeface="Cambria Math" panose="02040503050406030204" pitchFamily="18" charset="0"/>
              </a:rPr>
              <a:t>(c) 5			(d) 4</a:t>
            </a:r>
          </a:p>
          <a:p>
            <a:pPr algn="r"/>
            <a:r>
              <a:rPr lang="en-US" sz="3600" dirty="0">
                <a:solidFill>
                  <a:srgbClr val="FFFF00"/>
                </a:solidFill>
                <a:latin typeface="Cambria Math" panose="02040503050406030204" pitchFamily="18" charset="0"/>
                <a:ea typeface="Cambria Math" panose="02040503050406030204" pitchFamily="18" charset="0"/>
              </a:rPr>
              <a:t>[NIMCET 2011]</a:t>
            </a:r>
          </a:p>
        </p:txBody>
      </p:sp>
    </p:spTree>
    <p:extLst>
      <p:ext uri="{BB962C8B-B14F-4D97-AF65-F5344CB8AC3E}">
        <p14:creationId xmlns:p14="http://schemas.microsoft.com/office/powerpoint/2010/main" val="421775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287328"/>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Suppose values taken by a random variable X are such that </a:t>
                </a:r>
                <a14:m>
                  <m:oMath xmlns:m="http://schemas.openxmlformats.org/officeDocument/2006/math">
                    <m:r>
                      <a:rPr lang="en-US" sz="3600" i="1" dirty="0" smtClean="0">
                        <a:solidFill>
                          <a:srgbClr val="FFFF00"/>
                        </a:solidFill>
                        <a:latin typeface="Cambria Math" panose="02040503050406030204" pitchFamily="18" charset="0"/>
                        <a:ea typeface="Cambria Math" panose="02040503050406030204" pitchFamily="18" charset="0"/>
                      </a:rPr>
                      <m:t>𝑎</m:t>
                    </m:r>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𝑏</m:t>
                    </m:r>
                  </m:oMath>
                </a14:m>
                <a:r>
                  <a:rPr lang="en-US" sz="3600" dirty="0">
                    <a:solidFill>
                      <a:srgbClr val="FFFF00"/>
                    </a:solidFill>
                    <a:latin typeface="Cambria Math" panose="02040503050406030204" pitchFamily="18" charset="0"/>
                    <a:ea typeface="Cambria Math" panose="02040503050406030204" pitchFamily="18" charset="0"/>
                  </a:rPr>
                  <a:t>, where </a:t>
                </a:r>
                <a:r>
                  <a:rPr lang="en-US" sz="3600" dirty="0" err="1">
                    <a:solidFill>
                      <a:srgbClr val="FFFF00"/>
                    </a:solidFill>
                    <a:latin typeface="Cambria Math" panose="02040503050406030204" pitchFamily="18" charset="0"/>
                    <a:ea typeface="Cambria Math" panose="02040503050406030204" pitchFamily="18" charset="0"/>
                  </a:rPr>
                  <a:t>x_i</a:t>
                </a:r>
                <a:r>
                  <a:rPr lang="en-US" sz="3600" dirty="0">
                    <a:solidFill>
                      <a:srgbClr val="FFFF00"/>
                    </a:solidFill>
                    <a:latin typeface="Cambria Math" panose="02040503050406030204" pitchFamily="18" charset="0"/>
                    <a:ea typeface="Cambria Math" panose="02040503050406030204" pitchFamily="18" charset="0"/>
                  </a:rPr>
                  <a:t> denotes the values of X in the </a:t>
                </a:r>
                <a14:m>
                  <m:oMath xmlns:m="http://schemas.openxmlformats.org/officeDocument/2006/math">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r>
                          <a:rPr lang="en-US" sz="3600" i="1" dirty="0" smtClean="0">
                            <a:solidFill>
                              <a:srgbClr val="FFFF00"/>
                            </a:solidFill>
                            <a:latin typeface="Cambria Math" panose="02040503050406030204" pitchFamily="18" charset="0"/>
                            <a:ea typeface="Cambria Math" panose="02040503050406030204" pitchFamily="18" charset="0"/>
                          </a:rPr>
                          <m:t>𝑖</m:t>
                        </m:r>
                      </m:e>
                      <m:sup>
                        <m:r>
                          <a:rPr lang="en-US" sz="3600" i="1" dirty="0" smtClean="0">
                            <a:solidFill>
                              <a:srgbClr val="FFFF00"/>
                            </a:solidFill>
                            <a:latin typeface="Cambria Math" panose="02040503050406030204" pitchFamily="18" charset="0"/>
                            <a:ea typeface="Cambria Math" panose="02040503050406030204" pitchFamily="18" charset="0"/>
                          </a:rPr>
                          <m:t>𝑡h</m:t>
                        </m:r>
                      </m:sup>
                    </m:sSup>
                  </m:oMath>
                </a14:m>
                <a:r>
                  <a:rPr lang="en-US" sz="3600" dirty="0">
                    <a:solidFill>
                      <a:srgbClr val="FFFF00"/>
                    </a:solidFill>
                    <a:latin typeface="Cambria Math" panose="02040503050406030204" pitchFamily="18" charset="0"/>
                    <a:ea typeface="Cambria Math" panose="02040503050406030204" pitchFamily="18" charset="0"/>
                  </a:rPr>
                  <a:t> case for </a:t>
                </a:r>
                <a:r>
                  <a:rPr lang="en-US" sz="3600" dirty="0" err="1">
                    <a:solidFill>
                      <a:srgbClr val="FFFF00"/>
                    </a:solidFill>
                    <a:latin typeface="Cambria Math" panose="02040503050406030204" pitchFamily="18" charset="0"/>
                    <a:ea typeface="Cambria Math" panose="02040503050406030204" pitchFamily="18" charset="0"/>
                  </a:rPr>
                  <a:t>i</a:t>
                </a:r>
                <a:r>
                  <a:rPr lang="en-US" sz="3600" dirty="0">
                    <a:solidFill>
                      <a:srgbClr val="FFFF00"/>
                    </a:solidFill>
                    <a:latin typeface="Cambria Math" panose="02040503050406030204" pitchFamily="18" charset="0"/>
                    <a:ea typeface="Cambria Math" panose="02040503050406030204" pitchFamily="18" charset="0"/>
                  </a:rPr>
                  <a:t>=1,2,3,…n, then </a:t>
                </a:r>
              </a:p>
              <a:p>
                <a:pPr algn="just"/>
                <a:r>
                  <a:rPr lang="en-US" sz="3600" dirty="0">
                    <a:solidFill>
                      <a:srgbClr val="FFFF00"/>
                    </a:solidFill>
                    <a:latin typeface="Cambria Math" panose="02040503050406030204" pitchFamily="18" charset="0"/>
                    <a:ea typeface="Cambria Math" panose="02040503050406030204" pitchFamily="18" charset="0"/>
                  </a:rPr>
                  <a:t>(a) </a:t>
                </a:r>
                <a14:m>
                  <m:oMath xmlns:m="http://schemas.openxmlformats.org/officeDocument/2006/math">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𝑏</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𝑎</m:t>
                            </m:r>
                          </m:e>
                        </m:d>
                      </m:e>
                      <m:sup>
                        <m:r>
                          <a:rPr lang="en-US" sz="3600" i="1" dirty="0" smtClean="0">
                            <a:solidFill>
                              <a:srgbClr val="FFFF00"/>
                            </a:solidFill>
                            <a:latin typeface="Cambria Math" panose="02040503050406030204" pitchFamily="18" charset="0"/>
                            <a:ea typeface="Cambria Math" panose="02040503050406030204" pitchFamily="18" charset="0"/>
                          </a:rPr>
                          <m:t>2</m:t>
                        </m:r>
                      </m:sup>
                    </m:sSup>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𝑉𝑎𝑟</m:t>
                    </m:r>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𝑋</m:t>
                        </m:r>
                      </m:e>
                    </m:d>
                  </m:oMath>
                </a14:m>
                <a:r>
                  <a:rPr lang="en-US" sz="3600" dirty="0">
                    <a:solidFill>
                      <a:srgbClr val="FFFF00"/>
                    </a:solidFill>
                    <a:latin typeface="Cambria Math" panose="02040503050406030204" pitchFamily="18" charset="0"/>
                    <a:ea typeface="Cambria Math" panose="02040503050406030204" pitchFamily="18" charset="0"/>
                  </a:rPr>
                  <a:t>		(b)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r>
                              <a:rPr lang="en-US" sz="3600" i="1" dirty="0" smtClean="0">
                                <a:solidFill>
                                  <a:srgbClr val="FFFF00"/>
                                </a:solidFill>
                                <a:latin typeface="Cambria Math" panose="02040503050406030204" pitchFamily="18" charset="0"/>
                                <a:ea typeface="Cambria Math" panose="02040503050406030204" pitchFamily="18" charset="0"/>
                              </a:rPr>
                              <m:t>𝑎</m:t>
                            </m:r>
                          </m:e>
                          <m:sup>
                            <m:r>
                              <a:rPr lang="en-US" sz="3600" i="1" dirty="0" smtClean="0">
                                <a:solidFill>
                                  <a:srgbClr val="FFFF00"/>
                                </a:solidFill>
                                <a:latin typeface="Cambria Math" panose="02040503050406030204" pitchFamily="18" charset="0"/>
                                <a:ea typeface="Cambria Math" panose="02040503050406030204" pitchFamily="18" charset="0"/>
                              </a:rPr>
                              <m:t>2</m:t>
                            </m:r>
                          </m:sup>
                        </m:sSup>
                      </m:num>
                      <m:den>
                        <m:r>
                          <a:rPr lang="en-US" sz="3600" i="1" dirty="0" smtClean="0">
                            <a:solidFill>
                              <a:srgbClr val="FFFF00"/>
                            </a:solidFill>
                            <a:latin typeface="Cambria Math" panose="02040503050406030204" pitchFamily="18" charset="0"/>
                            <a:ea typeface="Cambria Math" panose="02040503050406030204" pitchFamily="18" charset="0"/>
                          </a:rPr>
                          <m:t>4</m:t>
                        </m:r>
                      </m:den>
                    </m:f>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𝑉𝑎𝑟</m:t>
                    </m:r>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𝑋</m:t>
                        </m:r>
                      </m:e>
                    </m:d>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r>
                          <a:rPr lang="en-US" sz="3600" i="1" dirty="0" smtClean="0">
                            <a:solidFill>
                              <a:srgbClr val="FFFF00"/>
                            </a:solidFill>
                            <a:latin typeface="Cambria Math" panose="02040503050406030204" pitchFamily="18" charset="0"/>
                            <a:ea typeface="Cambria Math" panose="02040503050406030204" pitchFamily="18" charset="0"/>
                          </a:rPr>
                          <m:t>𝑎</m:t>
                        </m:r>
                      </m:e>
                      <m:sup>
                        <m:r>
                          <a:rPr lang="en-US" sz="3600" i="1" dirty="0" smtClean="0">
                            <a:solidFill>
                              <a:srgbClr val="FFFF00"/>
                            </a:solidFill>
                            <a:latin typeface="Cambria Math" panose="02040503050406030204" pitchFamily="18" charset="0"/>
                            <a:ea typeface="Cambria Math" panose="02040503050406030204" pitchFamily="18" charset="0"/>
                          </a:rPr>
                          <m:t>2</m:t>
                        </m:r>
                      </m:sup>
                    </m:sSup>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𝑉𝑎𝑟</m:t>
                    </m:r>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𝑋</m:t>
                        </m:r>
                      </m:e>
                    </m:d>
                    <m:r>
                      <a:rPr lang="en-US" sz="3600" i="1" dirty="0" smtClean="0">
                        <a:solidFill>
                          <a:srgbClr val="FFFF00"/>
                        </a:solidFill>
                        <a:latin typeface="Cambria Math" panose="02040503050406030204" pitchFamily="18" charset="0"/>
                        <a:ea typeface="Cambria Math" panose="02040503050406030204" pitchFamily="18" charset="0"/>
                      </a:rPr>
                      <m:t>≤</m:t>
                    </m:r>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r>
                          <a:rPr lang="en-US" sz="3600" i="1" dirty="0" smtClean="0">
                            <a:solidFill>
                              <a:srgbClr val="FFFF00"/>
                            </a:solidFill>
                            <a:latin typeface="Cambria Math" panose="02040503050406030204" pitchFamily="18" charset="0"/>
                            <a:ea typeface="Cambria Math" panose="02040503050406030204" pitchFamily="18" charset="0"/>
                          </a:rPr>
                          <m:t>𝑏</m:t>
                        </m:r>
                      </m:e>
                      <m:sup>
                        <m:r>
                          <a:rPr lang="en-US" sz="3600" i="1" dirty="0" smtClean="0">
                            <a:solidFill>
                              <a:srgbClr val="FFFF00"/>
                            </a:solidFill>
                            <a:latin typeface="Cambria Math" panose="02040503050406030204" pitchFamily="18" charset="0"/>
                            <a:ea typeface="Cambria Math" panose="02040503050406030204" pitchFamily="18" charset="0"/>
                          </a:rPr>
                          <m:t>2</m:t>
                        </m:r>
                      </m:sup>
                    </m:sSup>
                  </m:oMath>
                </a14:m>
                <a:r>
                  <a:rPr lang="en-US" sz="3600" dirty="0">
                    <a:solidFill>
                      <a:srgbClr val="FFFF00"/>
                    </a:solidFill>
                    <a:latin typeface="Cambria Math" panose="02040503050406030204" pitchFamily="18" charset="0"/>
                    <a:ea typeface="Cambria Math" panose="02040503050406030204" pitchFamily="18" charset="0"/>
                  </a:rPr>
                  <a:t>		(d) </a:t>
                </a:r>
                <a14:m>
                  <m:oMath xmlns:m="http://schemas.openxmlformats.org/officeDocument/2006/math">
                    <m:r>
                      <a:rPr lang="en-US" sz="3600" i="1" dirty="0" smtClean="0">
                        <a:solidFill>
                          <a:srgbClr val="FFFF00"/>
                        </a:solidFill>
                        <a:latin typeface="Cambria Math" panose="02040503050406030204" pitchFamily="18" charset="0"/>
                        <a:ea typeface="Cambria Math" panose="02040503050406030204" pitchFamily="18" charset="0"/>
                      </a:rPr>
                      <m:t>𝑎</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𝑉𝑎𝑟</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𝑋</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𝑏</m:t>
                    </m:r>
                  </m:oMath>
                </a14:m>
                <a:endParaRPr lang="en-US" sz="3600" dirty="0">
                  <a:solidFill>
                    <a:srgbClr val="FFFF00"/>
                  </a:solidFill>
                  <a:latin typeface="Cambria Math" panose="02040503050406030204" pitchFamily="18" charset="0"/>
                  <a:ea typeface="Cambria Math" panose="02040503050406030204" pitchFamily="18" charset="0"/>
                </a:endParaRPr>
              </a:p>
              <a:p>
                <a:pPr algn="r"/>
                <a:r>
                  <a:rPr lang="en-US" sz="3600" dirty="0">
                    <a:solidFill>
                      <a:srgbClr val="FFFF00"/>
                    </a:solidFill>
                    <a:latin typeface="Cambria Math" panose="02040503050406030204" pitchFamily="18" charset="0"/>
                    <a:ea typeface="Cambria Math" panose="02040503050406030204" pitchFamily="18" charset="0"/>
                  </a:rPr>
                  <a:t> [NIMCET 2012]</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4287328"/>
              </a:xfrm>
              <a:prstGeom prst="rect">
                <a:avLst/>
              </a:prstGeom>
              <a:blipFill>
                <a:blip r:embed="rId2"/>
                <a:stretch>
                  <a:fillRect l="-1750" t="-2134" r="-2684"/>
                </a:stretch>
              </a:blipFill>
            </p:spPr>
            <p:txBody>
              <a:bodyPr/>
              <a:lstStyle/>
              <a:p>
                <a:r>
                  <a:rPr lang="en-US">
                    <a:noFill/>
                  </a:rPr>
                  <a:t> </a:t>
                </a:r>
              </a:p>
            </p:txBody>
          </p:sp>
        </mc:Fallback>
      </mc:AlternateContent>
    </p:spTree>
    <p:extLst>
      <p:ext uri="{BB962C8B-B14F-4D97-AF65-F5344CB8AC3E}">
        <p14:creationId xmlns:p14="http://schemas.microsoft.com/office/powerpoint/2010/main" val="2999502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846904"/>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1</m:t>
                            </m:r>
                          </m:sub>
                        </m:sSub>
                      </m:e>
                    </m:acc>
                  </m:oMath>
                </a14:m>
                <a:r>
                  <a:rPr lang="en-US" sz="3600" dirty="0">
                    <a:solidFill>
                      <a:srgbClr val="FFFF00"/>
                    </a:solidFill>
                    <a:latin typeface="Cambria Math" panose="02040503050406030204" pitchFamily="18" charset="0"/>
                    <a:ea typeface="Cambria Math" panose="02040503050406030204" pitchFamily="18" charset="0"/>
                  </a:rPr>
                  <a:t> and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2</m:t>
                            </m:r>
                          </m:sub>
                        </m:sSub>
                      </m:e>
                    </m:acc>
                  </m:oMath>
                </a14:m>
                <a:r>
                  <a:rPr lang="en-US" sz="3600" dirty="0">
                    <a:solidFill>
                      <a:srgbClr val="FFFF00"/>
                    </a:solidFill>
                    <a:latin typeface="Cambria Math" panose="02040503050406030204" pitchFamily="18" charset="0"/>
                    <a:ea typeface="Cambria Math" panose="02040503050406030204" pitchFamily="18" charset="0"/>
                  </a:rPr>
                  <a:t> are the means of two distributions such that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b="0" i="1" dirty="0" smtClean="0">
                                <a:solidFill>
                                  <a:srgbClr val="FFFF00"/>
                                </a:solidFill>
                                <a:latin typeface="Cambria Math" panose="02040503050406030204" pitchFamily="18" charset="0"/>
                                <a:ea typeface="Cambria Math" panose="02040503050406030204" pitchFamily="18" charset="0"/>
                              </a:rPr>
                            </m:ctrlPr>
                          </m:sSubPr>
                          <m:e>
                            <m:r>
                              <a:rPr lang="en-US" sz="3600" b="0" i="1" dirty="0" smtClean="0">
                                <a:solidFill>
                                  <a:srgbClr val="FFFF00"/>
                                </a:solidFill>
                                <a:latin typeface="Cambria Math" panose="02040503050406030204" pitchFamily="18" charset="0"/>
                                <a:ea typeface="Cambria Math" panose="02040503050406030204" pitchFamily="18" charset="0"/>
                              </a:rPr>
                              <m:t>𝑋</m:t>
                            </m:r>
                          </m:e>
                          <m:sub>
                            <m:r>
                              <a:rPr lang="en-US" sz="3600" b="0" i="1" dirty="0" smtClean="0">
                                <a:solidFill>
                                  <a:srgbClr val="FFFF00"/>
                                </a:solidFill>
                                <a:latin typeface="Cambria Math" panose="02040503050406030204" pitchFamily="18" charset="0"/>
                                <a:ea typeface="Cambria Math" panose="02040503050406030204" pitchFamily="18" charset="0"/>
                              </a:rPr>
                              <m:t>1</m:t>
                            </m:r>
                          </m:sub>
                        </m:sSub>
                      </m:e>
                    </m:acc>
                    <m:r>
                      <a:rPr lang="en-US" sz="3600" i="1" dirty="0" smtClean="0">
                        <a:solidFill>
                          <a:srgbClr val="FFFF00"/>
                        </a:solidFill>
                        <a:latin typeface="Cambria Math" panose="02040503050406030204" pitchFamily="18" charset="0"/>
                        <a:ea typeface="Cambria Math" panose="02040503050406030204" pitchFamily="18" charset="0"/>
                      </a:rPr>
                      <m:t>&lt;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2</m:t>
                            </m:r>
                          </m:sub>
                        </m:sSub>
                      </m:e>
                    </m:acc>
                  </m:oMath>
                </a14:m>
                <a:r>
                  <a:rPr lang="en-US" sz="3600" dirty="0">
                    <a:solidFill>
                      <a:srgbClr val="FFFF00"/>
                    </a:solidFill>
                    <a:latin typeface="Cambria Math" panose="02040503050406030204" pitchFamily="18" charset="0"/>
                    <a:ea typeface="Cambria Math" panose="02040503050406030204" pitchFamily="18" charset="0"/>
                  </a:rPr>
                  <a:t> and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i="1" dirty="0" smtClean="0">
                            <a:solidFill>
                              <a:srgbClr val="FFFF00"/>
                            </a:solidFill>
                            <a:latin typeface="Cambria Math" panose="02040503050406030204" pitchFamily="18" charset="0"/>
                            <a:ea typeface="Cambria Math" panose="02040503050406030204" pitchFamily="18" charset="0"/>
                          </a:rPr>
                          <m:t>𝑋</m:t>
                        </m:r>
                      </m:e>
                    </m:acc>
                  </m:oMath>
                </a14:m>
                <a:r>
                  <a:rPr lang="en-US" sz="3600" dirty="0">
                    <a:solidFill>
                      <a:srgbClr val="FFFF00"/>
                    </a:solidFill>
                    <a:latin typeface="Cambria Math" panose="02040503050406030204" pitchFamily="18" charset="0"/>
                    <a:ea typeface="Cambria Math" panose="02040503050406030204" pitchFamily="18" charset="0"/>
                  </a:rPr>
                  <a:t> is the mean of the combined distribution, then</a:t>
                </a:r>
              </a:p>
              <a:p>
                <a:pPr algn="just"/>
                <a:r>
                  <a:rPr lang="en-US" sz="3600" dirty="0">
                    <a:solidFill>
                      <a:srgbClr val="FFFF00"/>
                    </a:solidFill>
                    <a:latin typeface="Cambria Math" panose="02040503050406030204" pitchFamily="18" charset="0"/>
                    <a:ea typeface="Cambria Math" panose="02040503050406030204" pitchFamily="18" charset="0"/>
                  </a:rPr>
                  <a:t>(a)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i="1" dirty="0" smtClean="0">
                            <a:solidFill>
                              <a:srgbClr val="FFFF00"/>
                            </a:solidFill>
                            <a:latin typeface="Cambria Math" panose="02040503050406030204" pitchFamily="18" charset="0"/>
                            <a:ea typeface="Cambria Math" panose="02040503050406030204" pitchFamily="18" charset="0"/>
                          </a:rPr>
                          <m:t>𝑋</m:t>
                        </m:r>
                      </m:e>
                    </m:acc>
                    <m:r>
                      <a:rPr lang="en-US" sz="3600" i="1" dirty="0" smtClean="0">
                        <a:solidFill>
                          <a:srgbClr val="FFFF00"/>
                        </a:solidFill>
                        <a:latin typeface="Cambria Math" panose="02040503050406030204" pitchFamily="18" charset="0"/>
                        <a:ea typeface="Cambria Math" panose="02040503050406030204" pitchFamily="18" charset="0"/>
                      </a:rPr>
                      <m:t>&lt;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1</m:t>
                            </m:r>
                          </m:sub>
                        </m:sSub>
                      </m:e>
                    </m:acc>
                  </m:oMath>
                </a14:m>
                <a:r>
                  <a:rPr lang="en-US" sz="3600" dirty="0">
                    <a:solidFill>
                      <a:srgbClr val="FFFF00"/>
                    </a:solidFill>
                    <a:latin typeface="Cambria Math" panose="02040503050406030204" pitchFamily="18" charset="0"/>
                    <a:ea typeface="Cambria Math" panose="02040503050406030204" pitchFamily="18" charset="0"/>
                  </a:rPr>
                  <a:t>			</a:t>
                </a:r>
              </a:p>
              <a:p>
                <a:pPr algn="just"/>
                <a:r>
                  <a:rPr lang="en-US" sz="3600" dirty="0">
                    <a:solidFill>
                      <a:srgbClr val="FFFF00"/>
                    </a:solidFill>
                    <a:latin typeface="Cambria Math" panose="02040503050406030204" pitchFamily="18" charset="0"/>
                    <a:ea typeface="Cambria Math" panose="02040503050406030204" pitchFamily="18" charset="0"/>
                  </a:rPr>
                  <a:t>(b) </a:t>
                </a:r>
                <a14:m>
                  <m:oMath xmlns:m="http://schemas.openxmlformats.org/officeDocument/2006/math">
                    <m:r>
                      <a:rPr lang="en-US" sz="3600" i="1" dirty="0" smtClean="0">
                        <a:solidFill>
                          <a:srgbClr val="FFFF00"/>
                        </a:solidFill>
                        <a:latin typeface="Cambria Math" panose="02040503050406030204" pitchFamily="18" charset="0"/>
                        <a:ea typeface="Cambria Math" panose="02040503050406030204" pitchFamily="18" charset="0"/>
                      </a:rPr>
                      <m:t>𝑋</m:t>
                    </m:r>
                    <m:r>
                      <a:rPr lang="en-US" sz="3600" i="1" dirty="0" smtClean="0">
                        <a:solidFill>
                          <a:srgbClr val="FFFF00"/>
                        </a:solidFill>
                        <a:latin typeface="Cambria Math" panose="02040503050406030204" pitchFamily="18" charset="0"/>
                        <a:ea typeface="Cambria Math" panose="02040503050406030204" pitchFamily="18" charset="0"/>
                      </a:rPr>
                      <m:t>&gt;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2</m:t>
                            </m:r>
                          </m:sub>
                        </m:sSub>
                      </m:e>
                    </m:acc>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i="1" dirty="0" smtClean="0">
                            <a:solidFill>
                              <a:srgbClr val="FFFF00"/>
                            </a:solidFill>
                            <a:latin typeface="Cambria Math" panose="02040503050406030204" pitchFamily="18" charset="0"/>
                            <a:ea typeface="Cambria Math" panose="02040503050406030204" pitchFamily="18" charset="0"/>
                          </a:rPr>
                          <m:t>𝑋</m:t>
                        </m:r>
                      </m:e>
                    </m:acc>
                    <m:r>
                      <a:rPr lang="en-US" sz="3600" i="1" dirty="0" smtClean="0">
                        <a:solidFill>
                          <a:srgbClr val="FFFF00"/>
                        </a:solidFill>
                        <a:latin typeface="Cambria Math" panose="02040503050406030204" pitchFamily="18" charset="0"/>
                        <a:ea typeface="Cambria Math" panose="02040503050406030204" pitchFamily="18" charset="0"/>
                      </a:rPr>
                      <m:t>=</m:t>
                    </m:r>
                    <m:f>
                      <m:fPr>
                        <m:ctrlPr>
                          <a:rPr lang="en-US" sz="3600" i="1" dirty="0" smtClean="0">
                            <a:solidFill>
                              <a:srgbClr val="FFFF00"/>
                            </a:solidFill>
                            <a:latin typeface="Cambria Math" panose="02040503050406030204" pitchFamily="18" charset="0"/>
                            <a:ea typeface="Cambria Math" panose="02040503050406030204" pitchFamily="18" charset="0"/>
                          </a:rPr>
                        </m:ctrlPr>
                      </m:fPr>
                      <m:num>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d>
                              <m:dPr>
                                <m:ctrlPr>
                                  <a:rPr lang="en-US" sz="3600" i="1" dirty="0" smtClean="0">
                                    <a:solidFill>
                                      <a:srgbClr val="FFFF00"/>
                                    </a:solidFill>
                                    <a:latin typeface="Cambria Math" panose="02040503050406030204" pitchFamily="18" charset="0"/>
                                    <a:ea typeface="Cambria Math" panose="02040503050406030204" pitchFamily="18" charset="0"/>
                                  </a:rPr>
                                </m:ctrlPr>
                              </m:d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1</m:t>
                                    </m:r>
                                  </m:sub>
                                </m:sSub>
                              </m:e>
                            </m:d>
                          </m:e>
                        </m:acc>
                        <m:r>
                          <a:rPr lang="en-US" sz="3600" i="1" dirty="0" smtClean="0">
                            <a:solidFill>
                              <a:srgbClr val="FFFF00"/>
                            </a:solidFill>
                            <a:latin typeface="Cambria Math" panose="02040503050406030204" pitchFamily="18" charset="0"/>
                            <a:ea typeface="Cambria Math" panose="02040503050406030204" pitchFamily="18" charset="0"/>
                          </a:rPr>
                          <m: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d>
                              <m:dPr>
                                <m:ctrlPr>
                                  <a:rPr lang="en-US" sz="3600" i="1" dirty="0" smtClean="0">
                                    <a:solidFill>
                                      <a:srgbClr val="FFFF00"/>
                                    </a:solidFill>
                                    <a:latin typeface="Cambria Math" panose="02040503050406030204" pitchFamily="18" charset="0"/>
                                    <a:ea typeface="Cambria Math" panose="02040503050406030204" pitchFamily="18" charset="0"/>
                                  </a:rPr>
                                </m:ctrlPr>
                              </m:d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2</m:t>
                                    </m:r>
                                  </m:sub>
                                </m:sSub>
                              </m:e>
                            </m:d>
                          </m:e>
                        </m:acc>
                      </m:num>
                      <m:den>
                        <m:r>
                          <a:rPr lang="en-US" sz="3600" i="1" dirty="0" smtClean="0">
                            <a:solidFill>
                              <a:srgbClr val="FFFF00"/>
                            </a:solidFill>
                            <a:latin typeface="Cambria Math" panose="02040503050406030204" pitchFamily="18" charset="0"/>
                            <a:ea typeface="Cambria Math" panose="02040503050406030204" pitchFamily="18" charset="0"/>
                          </a:rPr>
                          <m:t>2</m:t>
                        </m:r>
                      </m:den>
                    </m:f>
                  </m:oMath>
                </a14:m>
                <a:r>
                  <a:rPr lang="en-US" sz="3600" dirty="0">
                    <a:solidFill>
                      <a:srgbClr val="FFFF00"/>
                    </a:solidFill>
                    <a:latin typeface="Cambria Math" panose="02040503050406030204" pitchFamily="18" charset="0"/>
                    <a:ea typeface="Cambria Math" panose="02040503050406030204" pitchFamily="18" charset="0"/>
                  </a:rPr>
                  <a:t>	 	</a:t>
                </a:r>
              </a:p>
              <a:p>
                <a:pPr algn="just"/>
                <a:r>
                  <a:rPr lang="en-US" sz="3600" dirty="0">
                    <a:solidFill>
                      <a:srgbClr val="FFFF00"/>
                    </a:solidFill>
                    <a:latin typeface="Cambria Math" panose="02040503050406030204" pitchFamily="18" charset="0"/>
                    <a:ea typeface="Cambria Math" panose="02040503050406030204" pitchFamily="18" charset="0"/>
                  </a:rPr>
                  <a:t>(d)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𝑋</m:t>
                            </m:r>
                          </m:e>
                          <m:sub>
                            <m:r>
                              <a:rPr lang="en-US" sz="3600" i="1" dirty="0" smtClean="0">
                                <a:solidFill>
                                  <a:srgbClr val="FFFF00"/>
                                </a:solidFill>
                                <a:latin typeface="Cambria Math" panose="02040503050406030204" pitchFamily="18" charset="0"/>
                                <a:ea typeface="Cambria Math" panose="02040503050406030204" pitchFamily="18" charset="0"/>
                              </a:rPr>
                              <m:t>1</m:t>
                            </m:r>
                          </m:sub>
                        </m:sSub>
                      </m:e>
                    </m:acc>
                    <m:r>
                      <a:rPr lang="en-US" sz="3600" i="1" dirty="0" smtClean="0">
                        <a:solidFill>
                          <a:srgbClr val="FFFF00"/>
                        </a:solidFill>
                        <a:latin typeface="Cambria Math" panose="02040503050406030204" pitchFamily="18" charset="0"/>
                        <a:ea typeface="Cambria Math" panose="02040503050406030204" pitchFamily="18" charset="0"/>
                      </a:rPr>
                      <m:t>&lt;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i="1" dirty="0" smtClean="0">
                            <a:solidFill>
                              <a:srgbClr val="FFFF00"/>
                            </a:solidFill>
                            <a:latin typeface="Cambria Math" panose="02040503050406030204" pitchFamily="18" charset="0"/>
                            <a:ea typeface="Cambria Math" panose="02040503050406030204" pitchFamily="18" charset="0"/>
                          </a:rPr>
                          <m:t>𝑋</m:t>
                        </m:r>
                      </m:e>
                    </m:acc>
                    <m:r>
                      <a:rPr lang="en-US" sz="3600" i="1" dirty="0" smtClean="0">
                        <a:solidFill>
                          <a:srgbClr val="FFFF00"/>
                        </a:solidFill>
                        <a:latin typeface="Cambria Math" panose="02040503050406030204" pitchFamily="18" charset="0"/>
                        <a:ea typeface="Cambria Math" panose="02040503050406030204" pitchFamily="18" charset="0"/>
                      </a:rPr>
                      <m:t>&lt;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sSub>
                          <m:sSubPr>
                            <m:ctrlPr>
                              <a:rPr lang="en-US" sz="3600" b="0" i="1" dirty="0" smtClean="0">
                                <a:solidFill>
                                  <a:srgbClr val="FFFF00"/>
                                </a:solidFill>
                                <a:latin typeface="Cambria Math" panose="02040503050406030204" pitchFamily="18" charset="0"/>
                                <a:ea typeface="Cambria Math" panose="02040503050406030204" pitchFamily="18" charset="0"/>
                              </a:rPr>
                            </m:ctrlPr>
                          </m:sSubPr>
                          <m:e>
                            <m:r>
                              <a:rPr lang="en-US" sz="3600" b="0" i="1" dirty="0" smtClean="0">
                                <a:solidFill>
                                  <a:srgbClr val="FFFF00"/>
                                </a:solidFill>
                                <a:latin typeface="Cambria Math" panose="02040503050406030204" pitchFamily="18" charset="0"/>
                                <a:ea typeface="Cambria Math" panose="02040503050406030204" pitchFamily="18" charset="0"/>
                              </a:rPr>
                              <m:t>𝑋</m:t>
                            </m:r>
                          </m:e>
                          <m:sub>
                            <m:r>
                              <a:rPr lang="en-US" sz="3600" b="0" i="1" dirty="0" smtClean="0">
                                <a:solidFill>
                                  <a:srgbClr val="FFFF00"/>
                                </a:solidFill>
                                <a:latin typeface="Cambria Math" panose="02040503050406030204" pitchFamily="18" charset="0"/>
                                <a:ea typeface="Cambria Math" panose="02040503050406030204" pitchFamily="18" charset="0"/>
                              </a:rPr>
                              <m:t>2</m:t>
                            </m:r>
                          </m:sub>
                        </m:sSub>
                      </m:e>
                    </m:acc>
                  </m:oMath>
                </a14:m>
                <a:endParaRPr lang="en-US" sz="3600" dirty="0">
                  <a:solidFill>
                    <a:srgbClr val="FFFF00"/>
                  </a:solidFill>
                  <a:latin typeface="Cambria Math" panose="02040503050406030204" pitchFamily="18" charset="0"/>
                  <a:ea typeface="Cambria Math" panose="02040503050406030204" pitchFamily="18" charset="0"/>
                </a:endParaRPr>
              </a:p>
              <a:p>
                <a:pPr algn="r"/>
                <a:r>
                  <a:rPr lang="en-US" sz="3600" dirty="0">
                    <a:solidFill>
                      <a:srgbClr val="FFFF00"/>
                    </a:solidFill>
                    <a:latin typeface="Cambria Math" panose="02040503050406030204" pitchFamily="18" charset="0"/>
                    <a:ea typeface="Cambria Math" panose="02040503050406030204" pitchFamily="18" charset="0"/>
                  </a:rPr>
                  <a:t>[NIMCET 2013]</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4846904"/>
              </a:xfrm>
              <a:prstGeom prst="rect">
                <a:avLst/>
              </a:prstGeom>
              <a:blipFill>
                <a:blip r:embed="rId2"/>
                <a:stretch>
                  <a:fillRect l="-1750" t="-1887" r="-1750" b="-3774"/>
                </a:stretch>
              </a:blipFill>
            </p:spPr>
            <p:txBody>
              <a:bodyPr/>
              <a:lstStyle/>
              <a:p>
                <a:r>
                  <a:rPr lang="en-US">
                    <a:noFill/>
                  </a:rPr>
                  <a:t> </a:t>
                </a:r>
              </a:p>
            </p:txBody>
          </p:sp>
        </mc:Fallback>
      </mc:AlternateContent>
    </p:spTree>
    <p:extLst>
      <p:ext uri="{BB962C8B-B14F-4D97-AF65-F5344CB8AC3E}">
        <p14:creationId xmlns:p14="http://schemas.microsoft.com/office/powerpoint/2010/main" val="3920551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524315"/>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average marks of boys in a class is 52 and that of girls is 42. The average marks of boys and girls combined is 50. The Percentage of boys in the class is</a:t>
            </a:r>
          </a:p>
          <a:p>
            <a:pPr algn="just"/>
            <a:r>
              <a:rPr lang="en-US" sz="3600" dirty="0">
                <a:solidFill>
                  <a:srgbClr val="FFFF00"/>
                </a:solidFill>
                <a:latin typeface="Cambria Math" panose="02040503050406030204" pitchFamily="18" charset="0"/>
                <a:ea typeface="Cambria Math" panose="02040503050406030204" pitchFamily="18" charset="0"/>
              </a:rPr>
              <a:t>(a) 80%		(b) 60%</a:t>
            </a:r>
          </a:p>
          <a:p>
            <a:pPr algn="just"/>
            <a:r>
              <a:rPr lang="en-US" sz="3600" dirty="0">
                <a:solidFill>
                  <a:srgbClr val="FFFF00"/>
                </a:solidFill>
                <a:latin typeface="Cambria Math" panose="02040503050406030204" pitchFamily="18" charset="0"/>
                <a:ea typeface="Cambria Math" panose="02040503050406030204" pitchFamily="18" charset="0"/>
              </a:rPr>
              <a:t>(c) 40%		(d) 20%</a:t>
            </a:r>
          </a:p>
          <a:p>
            <a:pPr algn="r"/>
            <a:r>
              <a:rPr lang="en-US" sz="3600" dirty="0">
                <a:solidFill>
                  <a:srgbClr val="FFFF00"/>
                </a:solidFill>
                <a:latin typeface="Cambria Math" panose="02040503050406030204" pitchFamily="18" charset="0"/>
                <a:ea typeface="Cambria Math" panose="02040503050406030204" pitchFamily="18" charset="0"/>
              </a:rPr>
              <a:t>[NIMCET 2016, 2014]</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85225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405419"/>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mean deviation from the mean of AP a, </a:t>
                </a:r>
                <a:r>
                  <a:rPr lang="en-US" sz="3600" dirty="0" err="1">
                    <a:solidFill>
                      <a:srgbClr val="FFFF00"/>
                    </a:solidFill>
                    <a:latin typeface="Cambria Math" panose="02040503050406030204" pitchFamily="18" charset="0"/>
                    <a:ea typeface="Cambria Math" panose="02040503050406030204" pitchFamily="18" charset="0"/>
                  </a:rPr>
                  <a:t>a+d</a:t>
                </a:r>
                <a:r>
                  <a:rPr lang="en-US" sz="3600" dirty="0">
                    <a:solidFill>
                      <a:srgbClr val="FFFF00"/>
                    </a:solidFill>
                    <a:latin typeface="Cambria Math" panose="02040503050406030204" pitchFamily="18" charset="0"/>
                    <a:ea typeface="Cambria Math" panose="02040503050406030204" pitchFamily="18" charset="0"/>
                  </a:rPr>
                  <a:t>, a+2d, …, a+2nd is </a:t>
                </a:r>
              </a:p>
              <a:p>
                <a:pPr algn="just"/>
                <a:r>
                  <a:rPr lang="en-US" sz="3600" dirty="0">
                    <a:solidFill>
                      <a:srgbClr val="FFFF00"/>
                    </a:solidFill>
                    <a:latin typeface="Cambria Math" panose="02040503050406030204" pitchFamily="18" charset="0"/>
                    <a:ea typeface="Cambria Math" panose="02040503050406030204" pitchFamily="18" charset="0"/>
                  </a:rPr>
                  <a:t>(a)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𝑛</m:t>
                        </m:r>
                      </m:num>
                      <m:den>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den>
                    </m:f>
                    <m:r>
                      <a:rPr lang="en-US" sz="3600" i="1" dirty="0" smtClean="0">
                        <a:solidFill>
                          <a:srgbClr val="FFFF00"/>
                        </a:solidFill>
                        <a:latin typeface="Cambria Math" panose="02040503050406030204" pitchFamily="18" charset="0"/>
                        <a:ea typeface="Cambria Math" panose="02040503050406030204" pitchFamily="18" charset="0"/>
                      </a:rPr>
                      <m:t>𝑑</m:t>
                    </m:r>
                  </m:oMath>
                </a14:m>
                <a:r>
                  <a:rPr lang="en-US" sz="3600" dirty="0">
                    <a:solidFill>
                      <a:srgbClr val="FFFF00"/>
                    </a:solidFill>
                    <a:latin typeface="Cambria Math" panose="02040503050406030204" pitchFamily="18" charset="0"/>
                    <a:ea typeface="Cambria Math" panose="02040503050406030204" pitchFamily="18" charset="0"/>
                  </a:rPr>
                  <a:t>			(b)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𝑛</m:t>
                        </m:r>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e>
                        </m:d>
                      </m:num>
                      <m:den>
                        <m:r>
                          <a:rPr lang="en-US" sz="3600" i="1" dirty="0" smtClean="0">
                            <a:solidFill>
                              <a:srgbClr val="FFFF00"/>
                            </a:solidFill>
                            <a:latin typeface="Cambria Math" panose="02040503050406030204" pitchFamily="18" charset="0"/>
                            <a:ea typeface="Cambria Math" panose="02040503050406030204" pitchFamily="18" charset="0"/>
                          </a:rPr>
                          <m:t>2</m:t>
                        </m:r>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den>
                    </m:f>
                    <m:r>
                      <a:rPr lang="en-US" sz="3600" i="1" dirty="0" smtClean="0">
                        <a:solidFill>
                          <a:srgbClr val="FFFF00"/>
                        </a:solidFill>
                        <a:latin typeface="Cambria Math" panose="02040503050406030204" pitchFamily="18" charset="0"/>
                        <a:ea typeface="Cambria Math" panose="02040503050406030204" pitchFamily="18" charset="0"/>
                      </a:rPr>
                      <m:t>𝑑</m:t>
                    </m:r>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num>
                      <m:den>
                        <m:r>
                          <a:rPr lang="en-US" sz="3600" i="1" dirty="0" smtClean="0">
                            <a:solidFill>
                              <a:srgbClr val="FFFF00"/>
                            </a:solidFill>
                            <a:latin typeface="Cambria Math" panose="02040503050406030204" pitchFamily="18" charset="0"/>
                            <a:ea typeface="Cambria Math" panose="02040503050406030204" pitchFamily="18" charset="0"/>
                          </a:rPr>
                          <m:t>2</m:t>
                        </m:r>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den>
                    </m:f>
                    <m:r>
                      <a:rPr lang="en-US" sz="3600" i="1" dirty="0" smtClean="0">
                        <a:solidFill>
                          <a:srgbClr val="FFFF00"/>
                        </a:solidFill>
                        <a:latin typeface="Cambria Math" panose="02040503050406030204" pitchFamily="18" charset="0"/>
                        <a:ea typeface="Cambria Math" panose="02040503050406030204" pitchFamily="18" charset="0"/>
                      </a:rPr>
                      <m:t>𝑑</m:t>
                    </m:r>
                  </m:oMath>
                </a14:m>
                <a:r>
                  <a:rPr lang="en-US" sz="3600" dirty="0">
                    <a:solidFill>
                      <a:srgbClr val="FFFF00"/>
                    </a:solidFill>
                    <a:latin typeface="Cambria Math" panose="02040503050406030204" pitchFamily="18" charset="0"/>
                    <a:ea typeface="Cambria Math" panose="02040503050406030204" pitchFamily="18" charset="0"/>
                  </a:rPr>
                  <a:t>		(d)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r>
                          <a:rPr lang="en-US" sz="3600" i="1" dirty="0" smtClean="0">
                            <a:solidFill>
                              <a:srgbClr val="FFFF00"/>
                            </a:solidFill>
                            <a:latin typeface="Cambria Math" panose="02040503050406030204" pitchFamily="18" charset="0"/>
                            <a:ea typeface="Cambria Math" panose="02040503050406030204" pitchFamily="18" charset="0"/>
                          </a:rPr>
                          <m:t>𝑛</m:t>
                        </m:r>
                        <m:d>
                          <m:dPr>
                            <m:ctrlPr>
                              <a:rPr lang="en-US" sz="3600" i="1" dirty="0" smtClean="0">
                                <a:solidFill>
                                  <a:srgbClr val="FFFF00"/>
                                </a:solidFill>
                                <a:latin typeface="Cambria Math" panose="02040503050406030204" pitchFamily="18" charset="0"/>
                                <a:ea typeface="Cambria Math" panose="02040503050406030204" pitchFamily="18" charset="0"/>
                              </a:rPr>
                            </m:ctrlPr>
                          </m:dPr>
                          <m:e>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e>
                        </m:d>
                      </m:num>
                      <m:den>
                        <m:r>
                          <a:rPr lang="en-US" sz="3600" i="1" dirty="0" smtClean="0">
                            <a:solidFill>
                              <a:srgbClr val="FFFF00"/>
                            </a:solidFill>
                            <a:latin typeface="Cambria Math" panose="02040503050406030204" pitchFamily="18" charset="0"/>
                            <a:ea typeface="Cambria Math" panose="02040503050406030204" pitchFamily="18" charset="0"/>
                          </a:rPr>
                          <m:t>2</m:t>
                        </m:r>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i="1" dirty="0" smtClean="0">
                            <a:solidFill>
                              <a:srgbClr val="FFFF00"/>
                            </a:solidFill>
                            <a:latin typeface="Cambria Math" panose="02040503050406030204" pitchFamily="18" charset="0"/>
                            <a:ea typeface="Cambria Math" panose="02040503050406030204" pitchFamily="18" charset="0"/>
                          </a:rPr>
                          <m:t>+1</m:t>
                        </m:r>
                      </m:den>
                    </m:f>
                    <m:r>
                      <a:rPr lang="en-US" sz="3600" i="1" dirty="0" smtClean="0">
                        <a:solidFill>
                          <a:srgbClr val="FFFF00"/>
                        </a:solidFill>
                        <a:latin typeface="Cambria Math" panose="02040503050406030204" pitchFamily="18" charset="0"/>
                        <a:ea typeface="Cambria Math" panose="02040503050406030204" pitchFamily="18" charset="0"/>
                      </a:rPr>
                      <m:t>𝑑</m:t>
                    </m:r>
                  </m:oMath>
                </a14:m>
                <a:endParaRPr lang="en-US" sz="3600" dirty="0">
                  <a:solidFill>
                    <a:srgbClr val="FFFF00"/>
                  </a:solidFill>
                  <a:latin typeface="Cambria Math" panose="02040503050406030204" pitchFamily="18" charset="0"/>
                  <a:ea typeface="Cambria Math" panose="02040503050406030204" pitchFamily="18" charset="0"/>
                </a:endParaRPr>
              </a:p>
              <a:p>
                <a:pPr algn="r"/>
                <a:r>
                  <a:rPr lang="en-US" sz="3600" dirty="0">
                    <a:solidFill>
                      <a:srgbClr val="FFFF00"/>
                    </a:solidFill>
                    <a:latin typeface="Cambria Math" panose="02040503050406030204" pitchFamily="18" charset="0"/>
                    <a:ea typeface="Cambria Math" panose="02040503050406030204" pitchFamily="18" charset="0"/>
                  </a:rPr>
                  <a:t>[NIMCET 2016, 2014]</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3405419"/>
              </a:xfrm>
              <a:prstGeom prst="rect">
                <a:avLst/>
              </a:prstGeom>
              <a:blipFill>
                <a:blip r:embed="rId2"/>
                <a:stretch>
                  <a:fillRect l="-1750" t="-2683" r="-2684" b="-5725"/>
                </a:stretch>
              </a:blipFill>
            </p:spPr>
            <p:txBody>
              <a:bodyPr/>
              <a:lstStyle/>
              <a:p>
                <a:r>
                  <a:rPr lang="en-US">
                    <a:noFill/>
                  </a:rPr>
                  <a:t> </a:t>
                </a:r>
              </a:p>
            </p:txBody>
          </p:sp>
        </mc:Fallback>
      </mc:AlternateContent>
    </p:spTree>
    <p:extLst>
      <p:ext uri="{BB962C8B-B14F-4D97-AF65-F5344CB8AC3E}">
        <p14:creationId xmlns:p14="http://schemas.microsoft.com/office/powerpoint/2010/main" val="279226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524315"/>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In a group of 200 students, the mean and standard deviation of scores were found to be 40 and 15, respectively. Later on it was found that two scores 43 and 35 were misread as 34 and 53, respectively. The corrected mean of scores is </a:t>
            </a:r>
          </a:p>
          <a:p>
            <a:pPr algn="just"/>
            <a:r>
              <a:rPr lang="en-US" sz="3600" dirty="0">
                <a:solidFill>
                  <a:srgbClr val="FFFF00"/>
                </a:solidFill>
                <a:latin typeface="Cambria Math" panose="02040503050406030204" pitchFamily="18" charset="0"/>
                <a:ea typeface="Cambria Math" panose="02040503050406030204" pitchFamily="18" charset="0"/>
              </a:rPr>
              <a:t>(a) 40.95 		(b) 39.0</a:t>
            </a:r>
          </a:p>
          <a:p>
            <a:pPr algn="just"/>
            <a:r>
              <a:rPr lang="en-US" sz="3600" dirty="0">
                <a:solidFill>
                  <a:srgbClr val="FFFF00"/>
                </a:solidFill>
                <a:latin typeface="Cambria Math" panose="02040503050406030204" pitchFamily="18" charset="0"/>
                <a:ea typeface="Cambria Math" panose="02040503050406030204" pitchFamily="18" charset="0"/>
              </a:rPr>
              <a:t>(c) 39.95 		(d) 14.97</a:t>
            </a:r>
          </a:p>
          <a:p>
            <a:pPr algn="just"/>
            <a:r>
              <a:rPr lang="en-US" sz="3600" dirty="0">
                <a:solidFill>
                  <a:srgbClr val="FFFF00"/>
                </a:solidFill>
                <a:latin typeface="Cambria Math" panose="02040503050406030204" pitchFamily="18" charset="0"/>
                <a:ea typeface="Cambria Math" panose="02040503050406030204" pitchFamily="18" charset="0"/>
              </a:rPr>
              <a:t>					[NIMCET 2014]</a:t>
            </a:r>
          </a:p>
        </p:txBody>
      </p:sp>
    </p:spTree>
    <p:extLst>
      <p:ext uri="{BB962C8B-B14F-4D97-AF65-F5344CB8AC3E}">
        <p14:creationId xmlns:p14="http://schemas.microsoft.com/office/powerpoint/2010/main" val="8144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970318"/>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the mean deviation of the number 1, 1+d, 1+2d, ….. 1+100d from their mean is 225, then the value of d is </a:t>
            </a:r>
          </a:p>
          <a:p>
            <a:pPr algn="just"/>
            <a:r>
              <a:rPr lang="en-US" sz="3600" dirty="0">
                <a:solidFill>
                  <a:srgbClr val="FFFF00"/>
                </a:solidFill>
                <a:latin typeface="Cambria Math" panose="02040503050406030204" pitchFamily="18" charset="0"/>
                <a:ea typeface="Cambria Math" panose="02040503050406030204" pitchFamily="18" charset="0"/>
              </a:rPr>
              <a:t>(a) 20.0 		(b) 10.1</a:t>
            </a:r>
          </a:p>
          <a:p>
            <a:pPr algn="just"/>
            <a:r>
              <a:rPr lang="en-US" sz="3600" dirty="0">
                <a:solidFill>
                  <a:srgbClr val="FFFF00"/>
                </a:solidFill>
                <a:latin typeface="Cambria Math" panose="02040503050406030204" pitchFamily="18" charset="0"/>
                <a:ea typeface="Cambria Math" panose="02040503050406030204" pitchFamily="18" charset="0"/>
              </a:rPr>
              <a:t>(c) 20.2 		(d) 10.0</a:t>
            </a:r>
          </a:p>
          <a:p>
            <a:pPr algn="just"/>
            <a:r>
              <a:rPr lang="en-US" sz="3600" dirty="0">
                <a:solidFill>
                  <a:srgbClr val="FFFF00"/>
                </a:solidFill>
                <a:latin typeface="Cambria Math" panose="02040503050406030204" pitchFamily="18" charset="0"/>
                <a:ea typeface="Cambria Math" panose="02040503050406030204" pitchFamily="18" charset="0"/>
              </a:rPr>
              <a:t>					[NIMCET 2019, 2015]</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95333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970318"/>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Let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1</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2</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𝑥</m:t>
                        </m:r>
                      </m:e>
                      <m:sub>
                        <m:r>
                          <a:rPr lang="en-US" sz="3600" i="1" dirty="0" err="1" smtClean="0">
                            <a:solidFill>
                              <a:srgbClr val="FFFF00"/>
                            </a:solidFill>
                            <a:latin typeface="Cambria Math" panose="02040503050406030204" pitchFamily="18" charset="0"/>
                            <a:ea typeface="Cambria Math" panose="02040503050406030204" pitchFamily="18" charset="0"/>
                          </a:rPr>
                          <m:t>𝑛</m:t>
                        </m:r>
                      </m:sub>
                    </m:sSub>
                  </m:oMath>
                </a14:m>
                <a:r>
                  <a:rPr lang="en-US" sz="3600" dirty="0">
                    <a:solidFill>
                      <a:srgbClr val="FFFF00"/>
                    </a:solidFill>
                    <a:latin typeface="Cambria Math" panose="02040503050406030204" pitchFamily="18" charset="0"/>
                    <a:ea typeface="Cambria Math" panose="02040503050406030204" pitchFamily="18" charset="0"/>
                  </a:rPr>
                  <a:t> be n observations such that       </a:t>
                </a:r>
                <a14:m>
                  <m:oMath xmlns:m="http://schemas.openxmlformats.org/officeDocument/2006/math">
                    <m:r>
                      <m:rPr>
                        <m:sty m:val="p"/>
                      </m:rPr>
                      <a:rPr lang="en-US" sz="3600" i="0" dirty="0" smtClean="0">
                        <a:solidFill>
                          <a:srgbClr val="FFFF00"/>
                        </a:solidFill>
                        <a:latin typeface="Cambria Math" panose="02040503050406030204" pitchFamily="18" charset="0"/>
                        <a:ea typeface="Cambria Math" panose="02040503050406030204" pitchFamily="18" charset="0"/>
                      </a:rPr>
                      <m:t>Σ</m:t>
                    </m:r>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𝑖</m:t>
                        </m:r>
                      </m:sub>
                      <m:sup>
                        <m:r>
                          <a:rPr lang="en-US" sz="3600" i="1" dirty="0" smtClean="0">
                            <a:solidFill>
                              <a:srgbClr val="FFFF00"/>
                            </a:solidFill>
                            <a:latin typeface="Cambria Math" panose="02040503050406030204" pitchFamily="18" charset="0"/>
                            <a:ea typeface="Cambria Math" panose="02040503050406030204" pitchFamily="18" charset="0"/>
                          </a:rPr>
                          <m:t>2</m:t>
                        </m:r>
                      </m:sup>
                    </m:sSubSup>
                    <m:r>
                      <a:rPr lang="en-US" sz="3600" i="1" dirty="0" smtClean="0">
                        <a:solidFill>
                          <a:srgbClr val="FFFF00"/>
                        </a:solidFill>
                        <a:latin typeface="Cambria Math" panose="02040503050406030204" pitchFamily="18" charset="0"/>
                        <a:ea typeface="Cambria Math" panose="02040503050406030204" pitchFamily="18" charset="0"/>
                      </a:rPr>
                      <m:t>=400</m:t>
                    </m:r>
                  </m:oMath>
                </a14:m>
                <a:r>
                  <a:rPr lang="en-US" sz="3600" dirty="0">
                    <a:solidFill>
                      <a:srgbClr val="FFFF00"/>
                    </a:solidFill>
                    <a:latin typeface="Cambria Math" panose="02040503050406030204" pitchFamily="18" charset="0"/>
                    <a:ea typeface="Cambria Math" panose="02040503050406030204" pitchFamily="18" charset="0"/>
                  </a:rPr>
                  <a:t> and </a:t>
                </a:r>
                <a14:m>
                  <m:oMath xmlns:m="http://schemas.openxmlformats.org/officeDocument/2006/math">
                    <m:r>
                      <m:rPr>
                        <m:sty m:val="p"/>
                      </m:rPr>
                      <a:rPr lang="en-US" sz="3600" i="0" dirty="0" smtClean="0">
                        <a:solidFill>
                          <a:srgbClr val="FFFF00"/>
                        </a:solidFill>
                        <a:latin typeface="Cambria Math" panose="02040503050406030204" pitchFamily="18" charset="0"/>
                        <a:ea typeface="Cambria Math" panose="02040503050406030204" pitchFamily="18" charset="0"/>
                      </a:rPr>
                      <m:t>Σ</m:t>
                    </m:r>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𝑥</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=80</m:t>
                    </m:r>
                  </m:oMath>
                </a14:m>
                <a:r>
                  <a:rPr lang="en-US" sz="3600" dirty="0">
                    <a:solidFill>
                      <a:srgbClr val="FFFF00"/>
                    </a:solidFill>
                    <a:latin typeface="Cambria Math" panose="02040503050406030204" pitchFamily="18" charset="0"/>
                    <a:ea typeface="Cambria Math" panose="02040503050406030204" pitchFamily="18" charset="0"/>
                  </a:rPr>
                  <a:t>. Then a possible value of n among the following is</a:t>
                </a:r>
              </a:p>
              <a:p>
                <a:pPr algn="just"/>
                <a:r>
                  <a:rPr lang="en-US" sz="3600" dirty="0">
                    <a:solidFill>
                      <a:srgbClr val="FFFF00"/>
                    </a:solidFill>
                    <a:latin typeface="Cambria Math" panose="02040503050406030204" pitchFamily="18" charset="0"/>
                    <a:ea typeface="Cambria Math" panose="02040503050406030204" pitchFamily="18" charset="0"/>
                  </a:rPr>
                  <a:t>(a) 10		(b) 15		</a:t>
                </a:r>
              </a:p>
              <a:p>
                <a:pPr algn="just"/>
                <a:r>
                  <a:rPr lang="en-US" sz="3600" dirty="0">
                    <a:solidFill>
                      <a:srgbClr val="FFFF00"/>
                    </a:solidFill>
                    <a:latin typeface="Cambria Math" panose="02040503050406030204" pitchFamily="18" charset="0"/>
                    <a:ea typeface="Cambria Math" panose="02040503050406030204" pitchFamily="18" charset="0"/>
                  </a:rPr>
                  <a:t>(c) 20		(d) 18</a:t>
                </a:r>
              </a:p>
              <a:p>
                <a:pPr algn="just"/>
                <a:r>
                  <a:rPr lang="en-US" sz="3600" dirty="0">
                    <a:solidFill>
                      <a:srgbClr val="FFFF00"/>
                    </a:solidFill>
                    <a:latin typeface="Cambria Math" panose="02040503050406030204" pitchFamily="18" charset="0"/>
                    <a:ea typeface="Cambria Math" panose="02040503050406030204" pitchFamily="18" charset="0"/>
                  </a:rPr>
                  <a:t>					[NIMCET 2019, 2016]</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3970318"/>
              </a:xfrm>
              <a:prstGeom prst="rect">
                <a:avLst/>
              </a:prstGeom>
              <a:blipFill>
                <a:blip r:embed="rId2"/>
                <a:stretch>
                  <a:fillRect l="-1750" t="-2304" r="-1750"/>
                </a:stretch>
              </a:blipFill>
            </p:spPr>
            <p:txBody>
              <a:bodyPr/>
              <a:lstStyle/>
              <a:p>
                <a:r>
                  <a:rPr lang="en-US">
                    <a:noFill/>
                  </a:rPr>
                  <a:t> </a:t>
                </a:r>
              </a:p>
            </p:txBody>
          </p:sp>
        </mc:Fallback>
      </mc:AlternateContent>
    </p:spTree>
    <p:extLst>
      <p:ext uri="{BB962C8B-B14F-4D97-AF65-F5344CB8AC3E}">
        <p14:creationId xmlns:p14="http://schemas.microsoft.com/office/powerpoint/2010/main" val="1337196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822859"/>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Suppose a population A has 100 observations 101, 102,…….,200  and another population B has 100 observations 151, 152,….,250. If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𝑉</m:t>
                        </m:r>
                      </m:e>
                      <m:sub>
                        <m:r>
                          <a:rPr lang="en-US" sz="3600" i="1" dirty="0" smtClean="0">
                            <a:solidFill>
                              <a:srgbClr val="FFFF00"/>
                            </a:solidFill>
                            <a:latin typeface="Cambria Math" panose="02040503050406030204" pitchFamily="18" charset="0"/>
                            <a:ea typeface="Cambria Math" panose="02040503050406030204" pitchFamily="18" charset="0"/>
                          </a:rPr>
                          <m:t>𝐴</m:t>
                        </m:r>
                      </m:sub>
                    </m:sSub>
                  </m:oMath>
                </a14:m>
                <a:r>
                  <a:rPr lang="en-US" sz="3600" dirty="0">
                    <a:solidFill>
                      <a:srgbClr val="FFFF00"/>
                    </a:solidFill>
                    <a:latin typeface="Cambria Math" panose="02040503050406030204" pitchFamily="18" charset="0"/>
                    <a:ea typeface="Cambria Math" panose="02040503050406030204" pitchFamily="18" charset="0"/>
                  </a:rPr>
                  <a:t> and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𝑉</m:t>
                        </m:r>
                      </m:e>
                      <m:sub>
                        <m:r>
                          <a:rPr lang="en-US" sz="3600" i="1" dirty="0" smtClean="0">
                            <a:solidFill>
                              <a:srgbClr val="FFFF00"/>
                            </a:solidFill>
                            <a:latin typeface="Cambria Math" panose="02040503050406030204" pitchFamily="18" charset="0"/>
                            <a:ea typeface="Cambria Math" panose="02040503050406030204" pitchFamily="18" charset="0"/>
                          </a:rPr>
                          <m:t>𝐵</m:t>
                        </m:r>
                      </m:sub>
                    </m:sSub>
                  </m:oMath>
                </a14:m>
                <a:r>
                  <a:rPr lang="en-US" sz="3600" dirty="0">
                    <a:solidFill>
                      <a:srgbClr val="FFFF00"/>
                    </a:solidFill>
                    <a:latin typeface="Cambria Math" panose="02040503050406030204" pitchFamily="18" charset="0"/>
                    <a:ea typeface="Cambria Math" panose="02040503050406030204" pitchFamily="18" charset="0"/>
                  </a:rPr>
                  <a:t> represents variance of the two populations respectively, then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𝑉</m:t>
                            </m:r>
                          </m:e>
                          <m:sub>
                            <m:r>
                              <a:rPr lang="en-US" sz="3600" i="1" dirty="0" smtClean="0">
                                <a:solidFill>
                                  <a:srgbClr val="FFFF00"/>
                                </a:solidFill>
                                <a:latin typeface="Cambria Math" panose="02040503050406030204" pitchFamily="18" charset="0"/>
                                <a:ea typeface="Cambria Math" panose="02040503050406030204" pitchFamily="18" charset="0"/>
                              </a:rPr>
                              <m:t>𝐴</m:t>
                            </m:r>
                          </m:sub>
                        </m:sSub>
                      </m:num>
                      <m:den>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𝑉</m:t>
                            </m:r>
                          </m:e>
                          <m:sub>
                            <m:r>
                              <a:rPr lang="en-US" sz="3600" i="1" dirty="0" smtClean="0">
                                <a:solidFill>
                                  <a:srgbClr val="FFFF00"/>
                                </a:solidFill>
                                <a:latin typeface="Cambria Math" panose="02040503050406030204" pitchFamily="18" charset="0"/>
                                <a:ea typeface="Cambria Math" panose="02040503050406030204" pitchFamily="18" charset="0"/>
                              </a:rPr>
                              <m:t>𝐵</m:t>
                            </m:r>
                          </m:sub>
                        </m:sSub>
                      </m:den>
                    </m:f>
                  </m:oMath>
                </a14:m>
                <a:r>
                  <a:rPr lang="en-US" sz="3600" dirty="0">
                    <a:solidFill>
                      <a:srgbClr val="FFFF00"/>
                    </a:solidFill>
                    <a:latin typeface="Cambria Math" panose="02040503050406030204" pitchFamily="18" charset="0"/>
                    <a:ea typeface="Cambria Math" panose="02040503050406030204" pitchFamily="18" charset="0"/>
                  </a:rPr>
                  <a:t>  is</a:t>
                </a:r>
              </a:p>
              <a:p>
                <a:pPr algn="just"/>
                <a:r>
                  <a:rPr lang="en-US" sz="3600" dirty="0">
                    <a:solidFill>
                      <a:srgbClr val="FFFF00"/>
                    </a:solidFill>
                    <a:latin typeface="Cambria Math" panose="02040503050406030204" pitchFamily="18" charset="0"/>
                    <a:ea typeface="Cambria Math" panose="02040503050406030204" pitchFamily="18" charset="0"/>
                  </a:rPr>
                  <a:t>(a) 9/4			(b) 4/9		</a:t>
                </a:r>
              </a:p>
              <a:p>
                <a:pPr algn="just"/>
                <a:r>
                  <a:rPr lang="en-US" sz="3600" dirty="0">
                    <a:solidFill>
                      <a:srgbClr val="FFFF00"/>
                    </a:solidFill>
                    <a:latin typeface="Cambria Math" panose="02040503050406030204" pitchFamily="18" charset="0"/>
                    <a:ea typeface="Cambria Math" panose="02040503050406030204" pitchFamily="18" charset="0"/>
                  </a:rPr>
                  <a:t>(c) 1			(d) 2/3</a:t>
                </a:r>
              </a:p>
              <a:p>
                <a:pPr algn="just"/>
                <a:r>
                  <a:rPr lang="en-US" sz="3600" dirty="0">
                    <a:solidFill>
                      <a:srgbClr val="FFFF00"/>
                    </a:solidFill>
                    <a:latin typeface="Cambria Math" panose="02040503050406030204" pitchFamily="18" charset="0"/>
                    <a:ea typeface="Cambria Math" panose="02040503050406030204" pitchFamily="18" charset="0"/>
                  </a:rPr>
                  <a:t>					[NIMCET 2016]</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4822859"/>
              </a:xfrm>
              <a:prstGeom prst="rect">
                <a:avLst/>
              </a:prstGeom>
              <a:blipFill>
                <a:blip r:embed="rId2"/>
                <a:stretch>
                  <a:fillRect l="-1750" t="-1896" r="-1750" b="-3793"/>
                </a:stretch>
              </a:blipFill>
            </p:spPr>
            <p:txBody>
              <a:bodyPr/>
              <a:lstStyle/>
              <a:p>
                <a:r>
                  <a:rPr lang="en-US">
                    <a:noFill/>
                  </a:rPr>
                  <a:t> </a:t>
                </a:r>
              </a:p>
            </p:txBody>
          </p:sp>
        </mc:Fallback>
      </mc:AlternateContent>
    </p:spTree>
    <p:extLst>
      <p:ext uri="{BB962C8B-B14F-4D97-AF65-F5344CB8AC3E}">
        <p14:creationId xmlns:p14="http://schemas.microsoft.com/office/powerpoint/2010/main" val="852063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4591963"/>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a:t>
                </a:r>
                <a14:m>
                  <m:oMath xmlns:m="http://schemas.openxmlformats.org/officeDocument/2006/math">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i="1" dirty="0" smtClean="0">
                            <a:solidFill>
                              <a:srgbClr val="FFFF00"/>
                            </a:solidFill>
                            <a:latin typeface="Cambria Math" panose="02040503050406030204" pitchFamily="18" charset="0"/>
                            <a:ea typeface="Cambria Math" panose="02040503050406030204" pitchFamily="18" charset="0"/>
                          </a:rPr>
                          <m:t>𝑥</m:t>
                        </m:r>
                      </m:e>
                    </m:acc>
                  </m:oMath>
                </a14:m>
                <a:r>
                  <a:rPr lang="en-US" sz="3600" dirty="0">
                    <a:solidFill>
                      <a:srgbClr val="FFFF00"/>
                    </a:solidFill>
                    <a:latin typeface="Cambria Math" panose="02040503050406030204" pitchFamily="18" charset="0"/>
                    <a:ea typeface="Cambria Math" panose="02040503050406030204" pitchFamily="18" charset="0"/>
                  </a:rPr>
                  <a:t> is the mean of distribution of X, then usual notation </a:t>
                </a:r>
                <a14:m>
                  <m:oMath xmlns:m="http://schemas.openxmlformats.org/officeDocument/2006/math">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𝑓</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d>
                      <m:dPr>
                        <m:ctrlPr>
                          <a:rPr lang="en-US" sz="3600" i="1" dirty="0" smtClean="0">
                            <a:solidFill>
                              <a:srgbClr val="FFFF00"/>
                            </a:solidFill>
                            <a:latin typeface="Cambria Math" panose="02040503050406030204" pitchFamily="18" charset="0"/>
                            <a:ea typeface="Cambria Math" panose="02040503050406030204" pitchFamily="18" charset="0"/>
                          </a:rPr>
                        </m:ctrlPr>
                      </m:dPr>
                      <m:e>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𝑥</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m:t>
                        </m:r>
                        <m:acc>
                          <m:accPr>
                            <m:chr m:val="̅"/>
                            <m:ctrlPr>
                              <a:rPr lang="en-US" sz="3600" i="1" dirty="0" smtClean="0">
                                <a:solidFill>
                                  <a:srgbClr val="FFFF00"/>
                                </a:solidFill>
                                <a:latin typeface="Cambria Math" panose="02040503050406030204" pitchFamily="18" charset="0"/>
                                <a:ea typeface="Cambria Math" panose="02040503050406030204" pitchFamily="18" charset="0"/>
                              </a:rPr>
                            </m:ctrlPr>
                          </m:accPr>
                          <m:e>
                            <m:r>
                              <a:rPr lang="en-US" sz="3600" b="0" i="1" dirty="0" smtClean="0">
                                <a:solidFill>
                                  <a:srgbClr val="FFFF00"/>
                                </a:solidFill>
                                <a:latin typeface="Cambria Math" panose="02040503050406030204" pitchFamily="18" charset="0"/>
                                <a:ea typeface="Cambria Math" panose="02040503050406030204" pitchFamily="18" charset="0"/>
                              </a:rPr>
                              <m:t>𝑥</m:t>
                            </m:r>
                          </m:e>
                        </m:acc>
                      </m:e>
                    </m:d>
                  </m:oMath>
                </a14:m>
                <a:r>
                  <a:rPr lang="en-US" sz="3600" dirty="0">
                    <a:solidFill>
                      <a:srgbClr val="FFFF00"/>
                    </a:solidFill>
                    <a:latin typeface="Cambria Math" panose="02040503050406030204" pitchFamily="18" charset="0"/>
                    <a:ea typeface="Cambria Math" panose="02040503050406030204" pitchFamily="18" charset="0"/>
                  </a:rPr>
                  <a:t>  is</a:t>
                </a:r>
              </a:p>
              <a:p>
                <a:pPr algn="just"/>
                <a:r>
                  <a:rPr lang="en-US" sz="3600" dirty="0">
                    <a:solidFill>
                      <a:srgbClr val="FFFF00"/>
                    </a:solidFill>
                    <a:latin typeface="Cambria Math" panose="02040503050406030204" pitchFamily="18" charset="0"/>
                    <a:ea typeface="Cambria Math" panose="02040503050406030204" pitchFamily="18" charset="0"/>
                  </a:rPr>
                  <a:t>(a) Mean deviation about mean </a:t>
                </a:r>
              </a:p>
              <a:p>
                <a:pPr algn="just"/>
                <a:r>
                  <a:rPr lang="en-US" sz="3600" dirty="0">
                    <a:solidFill>
                      <a:srgbClr val="FFFF00"/>
                    </a:solidFill>
                    <a:latin typeface="Cambria Math" panose="02040503050406030204" pitchFamily="18" charset="0"/>
                    <a:ea typeface="Cambria Math" panose="02040503050406030204" pitchFamily="18" charset="0"/>
                  </a:rPr>
                  <a:t>(b) Standard deviation</a:t>
                </a:r>
              </a:p>
              <a:p>
                <a:pPr algn="just"/>
                <a:r>
                  <a:rPr lang="en-US" sz="3600" dirty="0">
                    <a:solidFill>
                      <a:srgbClr val="FFFF00"/>
                    </a:solidFill>
                    <a:latin typeface="Cambria Math" panose="02040503050406030204" pitchFamily="18" charset="0"/>
                    <a:ea typeface="Cambria Math" panose="02040503050406030204" pitchFamily="18" charset="0"/>
                  </a:rPr>
                  <a:t>(c) 1 </a:t>
                </a:r>
              </a:p>
              <a:p>
                <a:pPr algn="just"/>
                <a:r>
                  <a:rPr lang="en-US" sz="3600" dirty="0">
                    <a:solidFill>
                      <a:srgbClr val="FFFF00"/>
                    </a:solidFill>
                    <a:latin typeface="Cambria Math" panose="02040503050406030204" pitchFamily="18" charset="0"/>
                    <a:ea typeface="Cambria Math" panose="02040503050406030204" pitchFamily="18" charset="0"/>
                  </a:rPr>
                  <a:t>(d) 0</a:t>
                </a:r>
              </a:p>
              <a:p>
                <a:pPr algn="just"/>
                <a:r>
                  <a:rPr lang="en-US" sz="3600" dirty="0">
                    <a:solidFill>
                      <a:srgbClr val="FFFF00"/>
                    </a:solidFill>
                    <a:latin typeface="Cambria Math" panose="02040503050406030204" pitchFamily="18" charset="0"/>
                    <a:ea typeface="Cambria Math" panose="02040503050406030204" pitchFamily="18" charset="0"/>
                  </a:rPr>
                  <a:t>					[NIMCET 2016]</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4591963"/>
              </a:xfrm>
              <a:prstGeom prst="rect">
                <a:avLst/>
              </a:prstGeom>
              <a:blipFill>
                <a:blip r:embed="rId2"/>
                <a:stretch>
                  <a:fillRect l="-1750" t="-1992" r="-1750"/>
                </a:stretch>
              </a:blipFill>
            </p:spPr>
            <p:txBody>
              <a:bodyPr/>
              <a:lstStyle/>
              <a:p>
                <a:r>
                  <a:rPr lang="en-US">
                    <a:noFill/>
                  </a:rPr>
                  <a:t> </a:t>
                </a:r>
              </a:p>
            </p:txBody>
          </p:sp>
        </mc:Fallback>
      </mc:AlternateContent>
    </p:spTree>
    <p:extLst>
      <p:ext uri="{BB962C8B-B14F-4D97-AF65-F5344CB8AC3E}">
        <p14:creationId xmlns:p14="http://schemas.microsoft.com/office/powerpoint/2010/main" val="1401994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2862322"/>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the mean of the squares of the first n natural numbers be 11, then n is equal to </a:t>
            </a:r>
          </a:p>
          <a:p>
            <a:pPr algn="just"/>
            <a:r>
              <a:rPr lang="en-US" sz="3600" dirty="0">
                <a:solidFill>
                  <a:srgbClr val="FFFF00"/>
                </a:solidFill>
                <a:latin typeface="Cambria Math" panose="02040503050406030204" pitchFamily="18" charset="0"/>
                <a:ea typeface="Cambria Math" panose="02040503050406030204" pitchFamily="18" charset="0"/>
              </a:rPr>
              <a:t>(a) -13/2		(b) 11		</a:t>
            </a:r>
          </a:p>
          <a:p>
            <a:pPr algn="just"/>
            <a:r>
              <a:rPr lang="en-US" sz="3600" dirty="0">
                <a:solidFill>
                  <a:srgbClr val="FFFF00"/>
                </a:solidFill>
                <a:latin typeface="Cambria Math" panose="02040503050406030204" pitchFamily="18" charset="0"/>
                <a:ea typeface="Cambria Math" panose="02040503050406030204" pitchFamily="18" charset="0"/>
              </a:rPr>
              <a:t>(c) 5			(d) 4</a:t>
            </a:r>
          </a:p>
          <a:p>
            <a:pPr algn="r"/>
            <a:r>
              <a:rPr lang="en-US" sz="3600" dirty="0">
                <a:solidFill>
                  <a:srgbClr val="FFFF00"/>
                </a:solidFill>
                <a:latin typeface="Cambria Math" panose="02040503050406030204" pitchFamily="18" charset="0"/>
                <a:ea typeface="Cambria Math" panose="02040503050406030204" pitchFamily="18" charset="0"/>
              </a:rPr>
              <a:t>[NIMCET 2018]</a:t>
            </a:r>
          </a:p>
        </p:txBody>
      </p:sp>
    </p:spTree>
    <p:extLst>
      <p:ext uri="{BB962C8B-B14F-4D97-AF65-F5344CB8AC3E}">
        <p14:creationId xmlns:p14="http://schemas.microsoft.com/office/powerpoint/2010/main" val="1583938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5632311"/>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Let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=1,2,…,</m:t>
                    </m:r>
                    <m:r>
                      <a:rPr lang="en-US" sz="3600" i="1" dirty="0" smtClean="0">
                        <a:solidFill>
                          <a:srgbClr val="FFFF00"/>
                        </a:solidFill>
                        <a:latin typeface="Cambria Math" panose="02040503050406030204" pitchFamily="18" charset="0"/>
                        <a:ea typeface="Cambria Math" panose="02040503050406030204" pitchFamily="18" charset="0"/>
                      </a:rPr>
                      <m:t>𝑛</m:t>
                    </m:r>
                    <m:r>
                      <a:rPr lang="en-US" sz="3600" b="0" i="1" dirty="0" smtClean="0">
                        <a:solidFill>
                          <a:srgbClr val="FFFF00"/>
                        </a:solidFill>
                        <a:latin typeface="Cambria Math" panose="02040503050406030204" pitchFamily="18" charset="0"/>
                        <a:ea typeface="Cambria Math" panose="02040503050406030204" pitchFamily="18" charset="0"/>
                      </a:rPr>
                      <m:t> </m:t>
                    </m:r>
                  </m:oMath>
                </a14:m>
                <a:r>
                  <a:rPr lang="en-US" sz="3600" dirty="0">
                    <a:solidFill>
                      <a:srgbClr val="FFFF00"/>
                    </a:solidFill>
                    <a:latin typeface="Cambria Math" panose="02040503050406030204" pitchFamily="18" charset="0"/>
                    <a:ea typeface="Cambria Math" panose="02040503050406030204" pitchFamily="18" charset="0"/>
                  </a:rPr>
                  <a:t> be n observations and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𝑤</m:t>
                        </m:r>
                      </m:e>
                      <m:sub>
                        <m:r>
                          <a:rPr lang="en-US" sz="3600" i="1" dirty="0"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err="1" smtClean="0">
                        <a:solidFill>
                          <a:srgbClr val="FFFF00"/>
                        </a:solidFill>
                        <a:latin typeface="Cambria Math" panose="02040503050406030204" pitchFamily="18" charset="0"/>
                        <a:ea typeface="Cambria Math" panose="02040503050406030204" pitchFamily="18" charset="0"/>
                      </a:rPr>
                      <m:t>𝑝</m:t>
                    </m:r>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𝑥</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r>
                      <a:rPr lang="en-US" sz="3600" i="1" dirty="0" err="1" smtClean="0">
                        <a:solidFill>
                          <a:srgbClr val="FFFF00"/>
                        </a:solidFill>
                        <a:latin typeface="Cambria Math" panose="02040503050406030204" pitchFamily="18" charset="0"/>
                        <a:ea typeface="Cambria Math" panose="02040503050406030204" pitchFamily="18" charset="0"/>
                      </a:rPr>
                      <m:t>+</m:t>
                    </m:r>
                    <m:r>
                      <a:rPr lang="en-US" sz="3600" i="1" dirty="0" err="1" smtClean="0">
                        <a:solidFill>
                          <a:srgbClr val="FFFF00"/>
                        </a:solidFill>
                        <a:latin typeface="Cambria Math" panose="02040503050406030204" pitchFamily="18" charset="0"/>
                        <a:ea typeface="Cambria Math" panose="02040503050406030204" pitchFamily="18" charset="0"/>
                      </a:rPr>
                      <m:t>𝑘</m:t>
                    </m:r>
                    <m:r>
                      <a:rPr lang="en-US" sz="3600" i="1" dirty="0" err="1" smtClean="0">
                        <a:solidFill>
                          <a:srgbClr val="FFFF00"/>
                        </a:solidFill>
                        <a:latin typeface="Cambria Math" panose="02040503050406030204" pitchFamily="18" charset="0"/>
                        <a:ea typeface="Cambria Math" panose="02040503050406030204" pitchFamily="18" charset="0"/>
                      </a:rPr>
                      <m:t>,</m:t>
                    </m:r>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=1,2,…,</m:t>
                    </m:r>
                    <m:r>
                      <a:rPr lang="en-US" sz="3600" i="1" dirty="0" smtClean="0">
                        <a:solidFill>
                          <a:srgbClr val="FFFF00"/>
                        </a:solidFill>
                        <a:latin typeface="Cambria Math" panose="02040503050406030204" pitchFamily="18" charset="0"/>
                        <a:ea typeface="Cambria Math" panose="02040503050406030204" pitchFamily="18" charset="0"/>
                      </a:rPr>
                      <m:t>𝑛</m:t>
                    </m:r>
                  </m:oMath>
                </a14:m>
                <a:r>
                  <a:rPr lang="en-US" sz="3600" dirty="0">
                    <a:solidFill>
                      <a:srgbClr val="FFFF00"/>
                    </a:solidFill>
                    <a:latin typeface="Cambria Math" panose="02040503050406030204" pitchFamily="18" charset="0"/>
                    <a:ea typeface="Cambria Math" panose="02040503050406030204" pitchFamily="18" charset="0"/>
                  </a:rPr>
                  <a:t> where p and k are constants. If the mean of </a:t>
                </a:r>
                <a14:m>
                  <m:oMath xmlns:m="http://schemas.openxmlformats.org/officeDocument/2006/math">
                    <m:sSub>
                      <m:sSubPr>
                        <m:ctrlPr>
                          <a:rPr lang="en-US" sz="360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𝑥</m:t>
                        </m:r>
                      </m:e>
                      <m:sub>
                        <m:r>
                          <a:rPr lang="en-US" sz="3600" i="1" dirty="0" smtClean="0">
                            <a:solidFill>
                              <a:srgbClr val="FFFF00"/>
                            </a:solidFill>
                            <a:latin typeface="Cambria Math" panose="02040503050406030204" pitchFamily="18" charset="0"/>
                            <a:ea typeface="Cambria Math" panose="02040503050406030204" pitchFamily="18" charset="0"/>
                          </a:rPr>
                          <m:t>𝑖</m:t>
                        </m:r>
                      </m:sub>
                    </m:sSub>
                    <m:r>
                      <a:rPr lang="en-US" sz="3600" i="1" dirty="0" smtClean="0">
                        <a:solidFill>
                          <a:srgbClr val="FFFF00"/>
                        </a:solidFill>
                        <a:latin typeface="Cambria Math" panose="02040503050406030204" pitchFamily="18" charset="0"/>
                        <a:ea typeface="Cambria Math" panose="02040503050406030204" pitchFamily="18" charset="0"/>
                      </a:rPr>
                      <m:t>′</m:t>
                    </m:r>
                  </m:oMath>
                </a14:m>
                <a:r>
                  <a:rPr lang="en-US" sz="3600" dirty="0" err="1">
                    <a:solidFill>
                      <a:srgbClr val="FFFF00"/>
                    </a:solidFill>
                    <a:latin typeface="Cambria Math" panose="02040503050406030204" pitchFamily="18" charset="0"/>
                    <a:ea typeface="Cambria Math" panose="02040503050406030204" pitchFamily="18" charset="0"/>
                  </a:rPr>
                  <a:t>s</a:t>
                </a:r>
                <a:r>
                  <a:rPr lang="en-US" sz="3600" dirty="0">
                    <a:solidFill>
                      <a:srgbClr val="FFFF00"/>
                    </a:solidFill>
                    <a:latin typeface="Cambria Math" panose="02040503050406030204" pitchFamily="18" charset="0"/>
                    <a:ea typeface="Cambria Math" panose="02040503050406030204" pitchFamily="18" charset="0"/>
                  </a:rPr>
                  <a:t> is 48 and standard deviation is 12, whereas the mean of </a:t>
                </a:r>
                <a14:m>
                  <m:oMath xmlns:m="http://schemas.openxmlformats.org/officeDocument/2006/math">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a:rPr lang="en-US" sz="3600" i="1" dirty="0" smtClean="0">
                            <a:solidFill>
                              <a:srgbClr val="FFFF00"/>
                            </a:solidFill>
                            <a:latin typeface="Cambria Math" panose="02040503050406030204" pitchFamily="18" charset="0"/>
                            <a:ea typeface="Cambria Math" panose="02040503050406030204" pitchFamily="18" charset="0"/>
                          </a:rPr>
                          <m:t>𝑤</m:t>
                        </m:r>
                      </m:e>
                      <m:sub>
                        <m:r>
                          <a:rPr lang="en-US" sz="3600" i="1" dirty="0" smtClean="0">
                            <a:solidFill>
                              <a:srgbClr val="FFFF00"/>
                            </a:solidFill>
                            <a:latin typeface="Cambria Math" panose="02040503050406030204" pitchFamily="18" charset="0"/>
                            <a:ea typeface="Cambria Math" panose="02040503050406030204" pitchFamily="18" charset="0"/>
                          </a:rPr>
                          <m:t>𝑖</m:t>
                        </m:r>
                      </m:sub>
                      <m:sup>
                        <m:r>
                          <a:rPr lang="en-US" sz="3600" i="1" dirty="0" smtClean="0">
                            <a:solidFill>
                              <a:srgbClr val="FFFF00"/>
                            </a:solidFill>
                            <a:latin typeface="Cambria Math" panose="02040503050406030204" pitchFamily="18" charset="0"/>
                            <a:ea typeface="Cambria Math" panose="02040503050406030204" pitchFamily="18" charset="0"/>
                          </a:rPr>
                          <m:t>′</m:t>
                        </m:r>
                      </m:sup>
                    </m:sSubSup>
                    <m:r>
                      <a:rPr lang="en-US" sz="3600" i="1" dirty="0" smtClean="0">
                        <a:solidFill>
                          <a:srgbClr val="FFFF00"/>
                        </a:solidFill>
                        <a:latin typeface="Cambria Math" panose="02040503050406030204" pitchFamily="18" charset="0"/>
                        <a:ea typeface="Cambria Math" panose="02040503050406030204" pitchFamily="18" charset="0"/>
                      </a:rPr>
                      <m:t>𝑠</m:t>
                    </m:r>
                  </m:oMath>
                </a14:m>
                <a:r>
                  <a:rPr lang="en-US" sz="3600" dirty="0">
                    <a:solidFill>
                      <a:srgbClr val="FFFF00"/>
                    </a:solidFill>
                    <a:latin typeface="Cambria Math" panose="02040503050406030204" pitchFamily="18" charset="0"/>
                    <a:ea typeface="Cambria Math" panose="02040503050406030204" pitchFamily="18" charset="0"/>
                  </a:rPr>
                  <a:t> is 55 and standard deviation is 15, then the value of p and k should be </a:t>
                </a:r>
              </a:p>
              <a:p>
                <a:pPr algn="just"/>
                <a:r>
                  <a:rPr lang="en-US" sz="3600" dirty="0">
                    <a:solidFill>
                      <a:srgbClr val="FFFF00"/>
                    </a:solidFill>
                    <a:latin typeface="Cambria Math" panose="02040503050406030204" pitchFamily="18" charset="0"/>
                    <a:ea typeface="Cambria Math" panose="02040503050406030204" pitchFamily="18" charset="0"/>
                  </a:rPr>
                  <a:t>(a) p=1.25, k=-5	</a:t>
                </a:r>
              </a:p>
              <a:p>
                <a:pPr algn="just"/>
                <a:r>
                  <a:rPr lang="en-US" sz="3600" dirty="0">
                    <a:solidFill>
                      <a:srgbClr val="FFFF00"/>
                    </a:solidFill>
                    <a:latin typeface="Cambria Math" panose="02040503050406030204" pitchFamily="18" charset="0"/>
                    <a:ea typeface="Cambria Math" panose="02040503050406030204" pitchFamily="18" charset="0"/>
                  </a:rPr>
                  <a:t>(b) p=-1.25, k=5</a:t>
                </a:r>
              </a:p>
              <a:p>
                <a:pPr algn="just"/>
                <a:r>
                  <a:rPr lang="en-US" sz="3600" dirty="0">
                    <a:solidFill>
                      <a:srgbClr val="FFFF00"/>
                    </a:solidFill>
                    <a:latin typeface="Cambria Math" panose="02040503050406030204" pitchFamily="18" charset="0"/>
                    <a:ea typeface="Cambria Math" panose="02040503050406030204" pitchFamily="18" charset="0"/>
                  </a:rPr>
                  <a:t>(c) p=2.5, k=-5	</a:t>
                </a:r>
              </a:p>
              <a:p>
                <a:pPr algn="just"/>
                <a:r>
                  <a:rPr lang="en-US" sz="3600" dirty="0">
                    <a:solidFill>
                      <a:srgbClr val="FFFF00"/>
                    </a:solidFill>
                    <a:latin typeface="Cambria Math" panose="02040503050406030204" pitchFamily="18" charset="0"/>
                    <a:ea typeface="Cambria Math" panose="02040503050406030204" pitchFamily="18" charset="0"/>
                  </a:rPr>
                  <a:t>(d) p=25, k=5</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1000151" y="628874"/>
                <a:ext cx="10445615" cy="5632311"/>
              </a:xfrm>
              <a:prstGeom prst="rect">
                <a:avLst/>
              </a:prstGeom>
              <a:blipFill>
                <a:blip r:embed="rId2"/>
                <a:stretch>
                  <a:fillRect l="-1750" t="-1623" r="-1750" b="-3139"/>
                </a:stretch>
              </a:blipFill>
            </p:spPr>
            <p:txBody>
              <a:bodyPr/>
              <a:lstStyle/>
              <a:p>
                <a:r>
                  <a:rPr lang="en-US">
                    <a:noFill/>
                  </a:rPr>
                  <a:t> </a:t>
                </a:r>
              </a:p>
            </p:txBody>
          </p:sp>
        </mc:Fallback>
      </mc:AlternateContent>
    </p:spTree>
    <p:extLst>
      <p:ext uri="{BB962C8B-B14F-4D97-AF65-F5344CB8AC3E}">
        <p14:creationId xmlns:p14="http://schemas.microsoft.com/office/powerpoint/2010/main" val="2674800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970318"/>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Standard deviation for the following distribution is </a:t>
            </a:r>
          </a:p>
          <a:p>
            <a:pPr algn="just"/>
            <a:r>
              <a:rPr lang="en-US" sz="3600" dirty="0">
                <a:solidFill>
                  <a:srgbClr val="FFFF00"/>
                </a:solidFill>
                <a:latin typeface="Cambria Math" panose="02040503050406030204" pitchFamily="18" charset="0"/>
                <a:ea typeface="Cambria Math" panose="02040503050406030204" pitchFamily="18" charset="0"/>
              </a:rPr>
              <a:t>Size of item	6	7	8	9	10	11	12</a:t>
            </a:r>
          </a:p>
          <a:p>
            <a:pPr algn="just"/>
            <a:r>
              <a:rPr lang="en-US" sz="3600" dirty="0">
                <a:solidFill>
                  <a:srgbClr val="FFFF00"/>
                </a:solidFill>
                <a:latin typeface="Cambria Math" panose="02040503050406030204" pitchFamily="18" charset="0"/>
                <a:ea typeface="Cambria Math" panose="02040503050406030204" pitchFamily="18" charset="0"/>
              </a:rPr>
              <a:t>Frequency	3	6	9	13	8	5	4</a:t>
            </a:r>
          </a:p>
          <a:p>
            <a:pPr algn="just"/>
            <a:r>
              <a:rPr lang="en-US" sz="3600" dirty="0">
                <a:solidFill>
                  <a:srgbClr val="FFFF00"/>
                </a:solidFill>
                <a:latin typeface="Cambria Math" panose="02040503050406030204" pitchFamily="18" charset="0"/>
                <a:ea typeface="Cambria Math" panose="02040503050406030204" pitchFamily="18" charset="0"/>
              </a:rPr>
              <a:t>(a) 1.607			(b) 9.0</a:t>
            </a:r>
          </a:p>
          <a:p>
            <a:pPr algn="just"/>
            <a:r>
              <a:rPr lang="en-US" sz="3600" dirty="0">
                <a:solidFill>
                  <a:srgbClr val="FFFF00"/>
                </a:solidFill>
                <a:latin typeface="Cambria Math" panose="02040503050406030204" pitchFamily="18" charset="0"/>
                <a:ea typeface="Cambria Math" panose="02040503050406030204" pitchFamily="18" charset="0"/>
              </a:rPr>
              <a:t>(c) 1.6			(d) 1.88</a:t>
            </a:r>
          </a:p>
          <a:p>
            <a:pPr algn="just"/>
            <a:r>
              <a:rPr lang="en-US" sz="3600" dirty="0">
                <a:solidFill>
                  <a:srgbClr val="FFFF00"/>
                </a:solidFill>
                <a:latin typeface="Cambria Math" panose="02040503050406030204" pitchFamily="18" charset="0"/>
                <a:ea typeface="Cambria Math" panose="02040503050406030204" pitchFamily="18" charset="0"/>
              </a:rPr>
              <a:t>				          [NIMCET 2020]</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90767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5632311"/>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A, B, C are three sets of values of x:</a:t>
            </a:r>
          </a:p>
          <a:p>
            <a:pPr algn="just"/>
            <a:r>
              <a:rPr lang="en-US" sz="3600" dirty="0">
                <a:solidFill>
                  <a:srgbClr val="FFFF00"/>
                </a:solidFill>
                <a:latin typeface="Cambria Math" panose="02040503050406030204" pitchFamily="18" charset="0"/>
                <a:ea typeface="Cambria Math" panose="02040503050406030204" pitchFamily="18" charset="0"/>
              </a:rPr>
              <a:t>A: 2,3,7,1,3,2,3</a:t>
            </a:r>
          </a:p>
          <a:p>
            <a:pPr algn="just"/>
            <a:r>
              <a:rPr lang="en-US" sz="3600" dirty="0">
                <a:solidFill>
                  <a:srgbClr val="FFFF00"/>
                </a:solidFill>
                <a:latin typeface="Cambria Math" panose="02040503050406030204" pitchFamily="18" charset="0"/>
                <a:ea typeface="Cambria Math" panose="02040503050406030204" pitchFamily="18" charset="0"/>
              </a:rPr>
              <a:t>B: 7,5,9,12,5,3,8</a:t>
            </a:r>
          </a:p>
          <a:p>
            <a:pPr algn="just"/>
            <a:r>
              <a:rPr lang="en-US" sz="3600" dirty="0">
                <a:solidFill>
                  <a:srgbClr val="FFFF00"/>
                </a:solidFill>
                <a:latin typeface="Cambria Math" panose="02040503050406030204" pitchFamily="18" charset="0"/>
                <a:ea typeface="Cambria Math" panose="02040503050406030204" pitchFamily="18" charset="0"/>
              </a:rPr>
              <a:t>C: 4,4,11,7,2,3,4</a:t>
            </a:r>
          </a:p>
          <a:p>
            <a:pPr algn="just"/>
            <a:r>
              <a:rPr lang="en-US" sz="3600" dirty="0">
                <a:solidFill>
                  <a:srgbClr val="FFFF00"/>
                </a:solidFill>
                <a:latin typeface="Cambria Math" panose="02040503050406030204" pitchFamily="18" charset="0"/>
                <a:ea typeface="Cambria Math" panose="02040503050406030204" pitchFamily="18" charset="0"/>
              </a:rPr>
              <a:t>Select the correct statement among the following:</a:t>
            </a:r>
          </a:p>
          <a:p>
            <a:pPr algn="just"/>
            <a:r>
              <a:rPr lang="en-US" sz="3600" dirty="0">
                <a:solidFill>
                  <a:srgbClr val="FFFF00"/>
                </a:solidFill>
                <a:latin typeface="Cambria Math" panose="02040503050406030204" pitchFamily="18" charset="0"/>
                <a:ea typeface="Cambria Math" panose="02040503050406030204" pitchFamily="18" charset="0"/>
              </a:rPr>
              <a:t>(a) Mean of A is equal to Mode of C.</a:t>
            </a:r>
          </a:p>
          <a:p>
            <a:pPr algn="just"/>
            <a:r>
              <a:rPr lang="en-US" sz="3600" dirty="0">
                <a:solidFill>
                  <a:srgbClr val="FFFF00"/>
                </a:solidFill>
                <a:latin typeface="Cambria Math" panose="02040503050406030204" pitchFamily="18" charset="0"/>
                <a:ea typeface="Cambria Math" panose="02040503050406030204" pitchFamily="18" charset="0"/>
              </a:rPr>
              <a:t>(b) Mean of C is equal to Median of B.</a:t>
            </a:r>
          </a:p>
          <a:p>
            <a:pPr algn="just"/>
            <a:r>
              <a:rPr lang="en-US" sz="3600" dirty="0">
                <a:solidFill>
                  <a:srgbClr val="FFFF00"/>
                </a:solidFill>
                <a:latin typeface="Cambria Math" panose="02040503050406030204" pitchFamily="18" charset="0"/>
                <a:ea typeface="Cambria Math" panose="02040503050406030204" pitchFamily="18" charset="0"/>
              </a:rPr>
              <a:t>(c) Median of B is equal to Mode of A.</a:t>
            </a:r>
          </a:p>
          <a:p>
            <a:pPr algn="just"/>
            <a:r>
              <a:rPr lang="en-US" sz="3600" dirty="0">
                <a:solidFill>
                  <a:srgbClr val="FFFF00"/>
                </a:solidFill>
                <a:latin typeface="Cambria Math" panose="02040503050406030204" pitchFamily="18" charset="0"/>
                <a:ea typeface="Cambria Math" panose="02040503050406030204" pitchFamily="18" charset="0"/>
              </a:rPr>
              <a:t>(d) Mean, Median and Mode of A are same.</a:t>
            </a:r>
          </a:p>
          <a:p>
            <a:pPr algn="just"/>
            <a:r>
              <a:rPr lang="en-US" sz="3600" dirty="0">
                <a:solidFill>
                  <a:srgbClr val="FFFF00"/>
                </a:solidFill>
                <a:latin typeface="Cambria Math" panose="02040503050406030204" pitchFamily="18" charset="0"/>
                <a:ea typeface="Cambria Math" panose="02040503050406030204" pitchFamily="18" charset="0"/>
              </a:rPr>
              <a:t>				             [NIMCET  2020]</a:t>
            </a:r>
          </a:p>
        </p:txBody>
      </p:sp>
    </p:spTree>
    <p:extLst>
      <p:ext uri="{BB962C8B-B14F-4D97-AF65-F5344CB8AC3E}">
        <p14:creationId xmlns:p14="http://schemas.microsoft.com/office/powerpoint/2010/main" val="1623453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1000151" y="628874"/>
            <a:ext cx="10445615" cy="3416320"/>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mean of 5 observation is 5 and their variance is 124. If three of the observations are 1, 2, 6, then the mean deviation from the mean of the data is </a:t>
            </a:r>
          </a:p>
          <a:p>
            <a:pPr algn="just"/>
            <a:r>
              <a:rPr lang="en-US" sz="3600" dirty="0">
                <a:solidFill>
                  <a:srgbClr val="FFFF00"/>
                </a:solidFill>
                <a:latin typeface="Cambria Math" panose="02040503050406030204" pitchFamily="18" charset="0"/>
                <a:ea typeface="Cambria Math" panose="02040503050406030204" pitchFamily="18" charset="0"/>
              </a:rPr>
              <a:t>(a) 2.5		(b) 2.6		</a:t>
            </a:r>
          </a:p>
          <a:p>
            <a:pPr algn="just"/>
            <a:r>
              <a:rPr lang="en-US" sz="3600" dirty="0">
                <a:solidFill>
                  <a:srgbClr val="FFFF00"/>
                </a:solidFill>
                <a:latin typeface="Cambria Math" panose="02040503050406030204" pitchFamily="18" charset="0"/>
                <a:ea typeface="Cambria Math" panose="02040503050406030204" pitchFamily="18" charset="0"/>
              </a:rPr>
              <a:t>(c) 2.8		(d) 2.4</a:t>
            </a:r>
          </a:p>
          <a:p>
            <a:pPr algn="just"/>
            <a:r>
              <a:rPr lang="en-US" sz="3600" dirty="0">
                <a:solidFill>
                  <a:srgbClr val="FFFF00"/>
                </a:solidFill>
                <a:latin typeface="Cambria Math" panose="02040503050406030204" pitchFamily="18" charset="0"/>
                <a:ea typeface="Cambria Math" panose="02040503050406030204" pitchFamily="18" charset="0"/>
              </a:rPr>
              <a:t>				           [NIMCET 2019]</a:t>
            </a:r>
          </a:p>
        </p:txBody>
      </p:sp>
    </p:spTree>
    <p:extLst>
      <p:ext uri="{BB962C8B-B14F-4D97-AF65-F5344CB8AC3E}">
        <p14:creationId xmlns:p14="http://schemas.microsoft.com/office/powerpoint/2010/main" val="3731404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6124754"/>
              </a:xfrm>
              <a:prstGeom prst="rect">
                <a:avLst/>
              </a:prstGeom>
              <a:noFill/>
            </p:spPr>
            <p:txBody>
              <a:bodyPr wrap="square">
                <a:spAutoFit/>
              </a:bodyPr>
              <a:lstStyle/>
              <a:p>
                <a:pPr algn="just"/>
                <a:r>
                  <a:rPr lang="en-US" sz="2800" dirty="0">
                    <a:solidFill>
                      <a:srgbClr val="FFFF00"/>
                    </a:solidFill>
                    <a:latin typeface="Cambria Math" panose="02040503050406030204" pitchFamily="18" charset="0"/>
                    <a:ea typeface="Cambria Math" panose="02040503050406030204" pitchFamily="18" charset="0"/>
                  </a:rPr>
                  <a:t>Consider the following frequency distribution table.</a:t>
                </a:r>
              </a:p>
              <a:p>
                <a:pPr algn="just"/>
                <a:r>
                  <a:rPr lang="en-US" sz="2800" dirty="0">
                    <a:solidFill>
                      <a:srgbClr val="FFFF00"/>
                    </a:solidFill>
                    <a:latin typeface="Cambria Math" panose="02040503050406030204" pitchFamily="18" charset="0"/>
                    <a:ea typeface="Cambria Math" panose="02040503050406030204" pitchFamily="18" charset="0"/>
                  </a:rPr>
                  <a:t>Class Interval		Frequency</a:t>
                </a:r>
              </a:p>
              <a:p>
                <a:pPr algn="just"/>
                <a:r>
                  <a:rPr lang="en-US" sz="2800" dirty="0">
                    <a:solidFill>
                      <a:srgbClr val="FFFF00"/>
                    </a:solidFill>
                    <a:latin typeface="Cambria Math" panose="02040503050406030204" pitchFamily="18" charset="0"/>
                    <a:ea typeface="Cambria Math" panose="02040503050406030204" pitchFamily="18" charset="0"/>
                  </a:rPr>
                  <a:t>10-20				180</a:t>
                </a:r>
              </a:p>
              <a:p>
                <a:pPr algn="just"/>
                <a:r>
                  <a:rPr lang="en-US" sz="2800" dirty="0">
                    <a:solidFill>
                      <a:srgbClr val="FFFF00"/>
                    </a:solidFill>
                    <a:latin typeface="Cambria Math" panose="02040503050406030204" pitchFamily="18" charset="0"/>
                    <a:ea typeface="Cambria Math" panose="02040503050406030204" pitchFamily="18" charset="0"/>
                  </a:rPr>
                  <a:t>20-30				</a:t>
                </a:r>
                <a14:m>
                  <m:oMath xmlns:m="http://schemas.openxmlformats.org/officeDocument/2006/math">
                    <m:sSub>
                      <m:sSubPr>
                        <m:ctrlPr>
                          <a:rPr lang="en-US" sz="2800" i="1" dirty="0" smtClean="0">
                            <a:solidFill>
                              <a:srgbClr val="FFFF00"/>
                            </a:solidFill>
                            <a:latin typeface="Cambria Math" panose="02040503050406030204" pitchFamily="18" charset="0"/>
                            <a:ea typeface="Cambria Math" panose="02040503050406030204" pitchFamily="18" charset="0"/>
                          </a:rPr>
                        </m:ctrlPr>
                      </m:sSubPr>
                      <m:e>
                        <m:r>
                          <a:rPr lang="en-US" sz="2800" i="1" dirty="0" smtClean="0">
                            <a:solidFill>
                              <a:srgbClr val="FFFF00"/>
                            </a:solidFill>
                            <a:latin typeface="Cambria Math" panose="02040503050406030204" pitchFamily="18" charset="0"/>
                            <a:ea typeface="Cambria Math" panose="02040503050406030204" pitchFamily="18" charset="0"/>
                          </a:rPr>
                          <m:t>𝑓</m:t>
                        </m:r>
                      </m:e>
                      <m:sub>
                        <m:r>
                          <a:rPr lang="en-US" sz="2800" i="1" dirty="0" smtClean="0">
                            <a:solidFill>
                              <a:srgbClr val="FFFF00"/>
                            </a:solidFill>
                            <a:latin typeface="Cambria Math" panose="02040503050406030204" pitchFamily="18" charset="0"/>
                            <a:ea typeface="Cambria Math" panose="02040503050406030204" pitchFamily="18" charset="0"/>
                          </a:rPr>
                          <m:t>1</m:t>
                        </m:r>
                      </m:sub>
                    </m:sSub>
                  </m:oMath>
                </a14:m>
                <a:endParaRPr lang="en-US" sz="2800" dirty="0">
                  <a:solidFill>
                    <a:srgbClr val="FFFF00"/>
                  </a:solidFill>
                  <a:latin typeface="Cambria Math" panose="02040503050406030204" pitchFamily="18" charset="0"/>
                  <a:ea typeface="Cambria Math" panose="02040503050406030204" pitchFamily="18" charset="0"/>
                </a:endParaRPr>
              </a:p>
              <a:p>
                <a:pPr algn="just"/>
                <a:r>
                  <a:rPr lang="en-US" sz="2800" dirty="0">
                    <a:solidFill>
                      <a:srgbClr val="FFFF00"/>
                    </a:solidFill>
                    <a:latin typeface="Cambria Math" panose="02040503050406030204" pitchFamily="18" charset="0"/>
                    <a:ea typeface="Cambria Math" panose="02040503050406030204" pitchFamily="18" charset="0"/>
                  </a:rPr>
                  <a:t>30-40				34</a:t>
                </a:r>
              </a:p>
              <a:p>
                <a:pPr algn="just"/>
                <a:r>
                  <a:rPr lang="en-US" sz="2800" dirty="0">
                    <a:solidFill>
                      <a:srgbClr val="FFFF00"/>
                    </a:solidFill>
                    <a:latin typeface="Cambria Math" panose="02040503050406030204" pitchFamily="18" charset="0"/>
                    <a:ea typeface="Cambria Math" panose="02040503050406030204" pitchFamily="18" charset="0"/>
                  </a:rPr>
                  <a:t>40-50				180</a:t>
                </a:r>
              </a:p>
              <a:p>
                <a:pPr algn="just"/>
                <a:r>
                  <a:rPr lang="en-US" sz="2800" dirty="0">
                    <a:solidFill>
                      <a:srgbClr val="FFFF00"/>
                    </a:solidFill>
                    <a:latin typeface="Cambria Math" panose="02040503050406030204" pitchFamily="18" charset="0"/>
                    <a:ea typeface="Cambria Math" panose="02040503050406030204" pitchFamily="18" charset="0"/>
                  </a:rPr>
                  <a:t>50-60				163</a:t>
                </a:r>
              </a:p>
              <a:p>
                <a:pPr algn="just"/>
                <a:r>
                  <a:rPr lang="en-US" sz="2800" dirty="0">
                    <a:solidFill>
                      <a:srgbClr val="FFFF00"/>
                    </a:solidFill>
                    <a:latin typeface="Cambria Math" panose="02040503050406030204" pitchFamily="18" charset="0"/>
                    <a:ea typeface="Cambria Math" panose="02040503050406030204" pitchFamily="18" charset="0"/>
                  </a:rPr>
                  <a:t>60-70				</a:t>
                </a:r>
                <a14:m>
                  <m:oMath xmlns:m="http://schemas.openxmlformats.org/officeDocument/2006/math">
                    <m:sSub>
                      <m:sSubPr>
                        <m:ctrlPr>
                          <a:rPr lang="en-US" sz="2800" i="1" dirty="0" smtClean="0">
                            <a:solidFill>
                              <a:srgbClr val="FFFF00"/>
                            </a:solidFill>
                            <a:latin typeface="Cambria Math" panose="02040503050406030204" pitchFamily="18" charset="0"/>
                            <a:ea typeface="Cambria Math" panose="02040503050406030204" pitchFamily="18" charset="0"/>
                          </a:rPr>
                        </m:ctrlPr>
                      </m:sSubPr>
                      <m:e>
                        <m:r>
                          <a:rPr lang="en-US" sz="2800" i="1" dirty="0" smtClean="0">
                            <a:solidFill>
                              <a:srgbClr val="FFFF00"/>
                            </a:solidFill>
                            <a:latin typeface="Cambria Math" panose="02040503050406030204" pitchFamily="18" charset="0"/>
                            <a:ea typeface="Cambria Math" panose="02040503050406030204" pitchFamily="18" charset="0"/>
                          </a:rPr>
                          <m:t>𝑓</m:t>
                        </m:r>
                      </m:e>
                      <m:sub>
                        <m:r>
                          <a:rPr lang="en-US" sz="2800" i="1" dirty="0" smtClean="0">
                            <a:solidFill>
                              <a:srgbClr val="FFFF00"/>
                            </a:solidFill>
                            <a:latin typeface="Cambria Math" panose="02040503050406030204" pitchFamily="18" charset="0"/>
                            <a:ea typeface="Cambria Math" panose="02040503050406030204" pitchFamily="18" charset="0"/>
                          </a:rPr>
                          <m:t>2</m:t>
                        </m:r>
                      </m:sub>
                    </m:sSub>
                  </m:oMath>
                </a14:m>
                <a:endParaRPr lang="en-US" sz="2800" dirty="0">
                  <a:solidFill>
                    <a:srgbClr val="FFFF00"/>
                  </a:solidFill>
                  <a:latin typeface="Cambria Math" panose="02040503050406030204" pitchFamily="18" charset="0"/>
                  <a:ea typeface="Cambria Math" panose="02040503050406030204" pitchFamily="18" charset="0"/>
                </a:endParaRPr>
              </a:p>
              <a:p>
                <a:pPr algn="just"/>
                <a:r>
                  <a:rPr lang="en-US" sz="2800" dirty="0">
                    <a:solidFill>
                      <a:srgbClr val="FFFF00"/>
                    </a:solidFill>
                    <a:latin typeface="Cambria Math" panose="02040503050406030204" pitchFamily="18" charset="0"/>
                    <a:ea typeface="Cambria Math" panose="02040503050406030204" pitchFamily="18" charset="0"/>
                  </a:rPr>
                  <a:t>70-80				50</a:t>
                </a:r>
              </a:p>
              <a:p>
                <a:pPr algn="just"/>
                <a:r>
                  <a:rPr lang="en-US" sz="2800" dirty="0">
                    <a:solidFill>
                      <a:srgbClr val="FFFF00"/>
                    </a:solidFill>
                    <a:latin typeface="Cambria Math" panose="02040503050406030204" pitchFamily="18" charset="0"/>
                    <a:ea typeface="Cambria Math" panose="02040503050406030204" pitchFamily="18" charset="0"/>
                  </a:rPr>
                  <a:t>If the total frequency is 686 and the median is 42.6, then the value of </a:t>
                </a:r>
                <a14:m>
                  <m:oMath xmlns:m="http://schemas.openxmlformats.org/officeDocument/2006/math">
                    <m:sSub>
                      <m:sSubPr>
                        <m:ctrlPr>
                          <a:rPr lang="en-US" sz="2800" i="1" dirty="0" smtClean="0">
                            <a:solidFill>
                              <a:srgbClr val="FFFF00"/>
                            </a:solidFill>
                            <a:latin typeface="Cambria Math" panose="02040503050406030204" pitchFamily="18" charset="0"/>
                            <a:ea typeface="Cambria Math" panose="02040503050406030204" pitchFamily="18" charset="0"/>
                          </a:rPr>
                        </m:ctrlPr>
                      </m:sSubPr>
                      <m:e>
                        <m:r>
                          <a:rPr lang="en-US" sz="2800" i="1" dirty="0" smtClean="0">
                            <a:solidFill>
                              <a:srgbClr val="FFFF00"/>
                            </a:solidFill>
                            <a:latin typeface="Cambria Math" panose="02040503050406030204" pitchFamily="18" charset="0"/>
                            <a:ea typeface="Cambria Math" panose="02040503050406030204" pitchFamily="18" charset="0"/>
                          </a:rPr>
                          <m:t>𝑓</m:t>
                        </m:r>
                      </m:e>
                      <m:sub>
                        <m:r>
                          <a:rPr lang="en-US" sz="2800" i="1" dirty="0" smtClean="0">
                            <a:solidFill>
                              <a:srgbClr val="FFFF00"/>
                            </a:solidFill>
                            <a:latin typeface="Cambria Math" panose="02040503050406030204" pitchFamily="18" charset="0"/>
                            <a:ea typeface="Cambria Math" panose="02040503050406030204" pitchFamily="18" charset="0"/>
                          </a:rPr>
                          <m:t>1</m:t>
                        </m:r>
                      </m:sub>
                    </m:sSub>
                  </m:oMath>
                </a14:m>
                <a:r>
                  <a:rPr lang="en-US" sz="2800" dirty="0">
                    <a:solidFill>
                      <a:srgbClr val="FFFF00"/>
                    </a:solidFill>
                    <a:latin typeface="Cambria Math" panose="02040503050406030204" pitchFamily="18" charset="0"/>
                    <a:ea typeface="Cambria Math" panose="02040503050406030204" pitchFamily="18" charset="0"/>
                  </a:rPr>
                  <a:t> and </a:t>
                </a:r>
                <a14:m>
                  <m:oMath xmlns:m="http://schemas.openxmlformats.org/officeDocument/2006/math">
                    <m:sSub>
                      <m:sSubPr>
                        <m:ctrlPr>
                          <a:rPr lang="en-US" sz="2800" i="1" dirty="0" smtClean="0">
                            <a:solidFill>
                              <a:srgbClr val="FFFF00"/>
                            </a:solidFill>
                            <a:latin typeface="Cambria Math" panose="02040503050406030204" pitchFamily="18" charset="0"/>
                            <a:ea typeface="Cambria Math" panose="02040503050406030204" pitchFamily="18" charset="0"/>
                          </a:rPr>
                        </m:ctrlPr>
                      </m:sSubPr>
                      <m:e>
                        <m:r>
                          <a:rPr lang="en-US" sz="2800" i="1" dirty="0" smtClean="0">
                            <a:solidFill>
                              <a:srgbClr val="FFFF00"/>
                            </a:solidFill>
                            <a:latin typeface="Cambria Math" panose="02040503050406030204" pitchFamily="18" charset="0"/>
                            <a:ea typeface="Cambria Math" panose="02040503050406030204" pitchFamily="18" charset="0"/>
                          </a:rPr>
                          <m:t>𝑓</m:t>
                        </m:r>
                      </m:e>
                      <m:sub>
                        <m:r>
                          <a:rPr lang="en-US" sz="2800" i="1" dirty="0" smtClean="0">
                            <a:solidFill>
                              <a:srgbClr val="FFFF00"/>
                            </a:solidFill>
                            <a:latin typeface="Cambria Math" panose="02040503050406030204" pitchFamily="18" charset="0"/>
                            <a:ea typeface="Cambria Math" panose="02040503050406030204" pitchFamily="18" charset="0"/>
                          </a:rPr>
                          <m:t>2</m:t>
                        </m:r>
                      </m:sub>
                    </m:sSub>
                  </m:oMath>
                </a14:m>
                <a:r>
                  <a:rPr lang="en-US" sz="2800" dirty="0">
                    <a:solidFill>
                      <a:srgbClr val="FFFF00"/>
                    </a:solidFill>
                    <a:latin typeface="Cambria Math" panose="02040503050406030204" pitchFamily="18" charset="0"/>
                    <a:ea typeface="Cambria Math" panose="02040503050406030204" pitchFamily="18" charset="0"/>
                  </a:rPr>
                  <a:t> are </a:t>
                </a:r>
              </a:p>
              <a:p>
                <a:pPr algn="just"/>
                <a:r>
                  <a:rPr lang="en-US" sz="2800" dirty="0">
                    <a:solidFill>
                      <a:srgbClr val="FFFF00"/>
                    </a:solidFill>
                    <a:latin typeface="Cambria Math" panose="02040503050406030204" pitchFamily="18" charset="0"/>
                    <a:ea typeface="Cambria Math" panose="02040503050406030204" pitchFamily="18" charset="0"/>
                  </a:rPr>
                  <a:t>(a) 81,25		(b) 82,24</a:t>
                </a:r>
              </a:p>
              <a:p>
                <a:pPr algn="just"/>
                <a:r>
                  <a:rPr lang="en-US" sz="2800" dirty="0">
                    <a:solidFill>
                      <a:srgbClr val="FFFF00"/>
                    </a:solidFill>
                    <a:latin typeface="Cambria Math" panose="02040503050406030204" pitchFamily="18" charset="0"/>
                    <a:ea typeface="Cambria Math" panose="02040503050406030204" pitchFamily="18" charset="0"/>
                  </a:rPr>
                  <a:t>(c) 83,23		(d) 84,22</a:t>
                </a:r>
              </a:p>
              <a:p>
                <a:pPr algn="r"/>
                <a:r>
                  <a:rPr lang="en-US" sz="2800" dirty="0">
                    <a:solidFill>
                      <a:srgbClr val="FFFF00"/>
                    </a:solidFill>
                    <a:latin typeface="Cambria Math" panose="02040503050406030204" pitchFamily="18" charset="0"/>
                    <a:ea typeface="Cambria Math" panose="02040503050406030204" pitchFamily="18" charset="0"/>
                  </a:rPr>
                  <a:t>[NIMCET 2021]</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873192" y="366623"/>
                <a:ext cx="10445615" cy="6124754"/>
              </a:xfrm>
              <a:prstGeom prst="rect">
                <a:avLst/>
              </a:prstGeom>
              <a:blipFill>
                <a:blip r:embed="rId2"/>
                <a:stretch>
                  <a:fillRect l="-1167" t="-995" r="-1167" b="-1791"/>
                </a:stretch>
              </a:blipFill>
            </p:spPr>
            <p:txBody>
              <a:bodyPr/>
              <a:lstStyle/>
              <a:p>
                <a:r>
                  <a:rPr lang="en-US">
                    <a:noFill/>
                  </a:rPr>
                  <a:t> </a:t>
                </a:r>
              </a:p>
            </p:txBody>
          </p:sp>
        </mc:Fallback>
      </mc:AlternateContent>
    </p:spTree>
    <p:extLst>
      <p:ext uri="{BB962C8B-B14F-4D97-AF65-F5344CB8AC3E}">
        <p14:creationId xmlns:p14="http://schemas.microsoft.com/office/powerpoint/2010/main" val="2926525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3732945"/>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a variable takes values 0, 1, 2,…, 50 with frequencies 1, </a:t>
                </a:r>
                <a:r>
                  <a:rPr lang="en-US" sz="3600" baseline="30000" dirty="0">
                    <a:solidFill>
                      <a:srgbClr val="FFFF00"/>
                    </a:solidFill>
                    <a:latin typeface="Cambria Math" panose="02040503050406030204" pitchFamily="18" charset="0"/>
                    <a:ea typeface="Cambria Math" panose="02040503050406030204" pitchFamily="18" charset="0"/>
                  </a:rPr>
                  <a:t>50</a:t>
                </a:r>
                <a:r>
                  <a:rPr lang="en-US" sz="3600" dirty="0">
                    <a:solidFill>
                      <a:srgbClr val="FFFF00"/>
                    </a:solidFill>
                    <a:latin typeface="Cambria Math" panose="02040503050406030204" pitchFamily="18" charset="0"/>
                    <a:ea typeface="Cambria Math" panose="02040503050406030204" pitchFamily="18" charset="0"/>
                  </a:rPr>
                  <a:t>C</a:t>
                </a:r>
                <a:r>
                  <a:rPr lang="en-US" sz="3600" baseline="-25000" dirty="0">
                    <a:solidFill>
                      <a:srgbClr val="FFFF00"/>
                    </a:solidFill>
                    <a:latin typeface="Cambria Math" panose="02040503050406030204" pitchFamily="18" charset="0"/>
                    <a:ea typeface="Cambria Math" panose="02040503050406030204" pitchFamily="18" charset="0"/>
                  </a:rPr>
                  <a:t>1</a:t>
                </a:r>
                <a:r>
                  <a:rPr lang="en-US" sz="3600" dirty="0">
                    <a:solidFill>
                      <a:srgbClr val="FFFF00"/>
                    </a:solidFill>
                    <a:latin typeface="Cambria Math" panose="02040503050406030204" pitchFamily="18" charset="0"/>
                    <a:ea typeface="Cambria Math" panose="02040503050406030204" pitchFamily="18" charset="0"/>
                  </a:rPr>
                  <a:t> , </a:t>
                </a:r>
                <a:r>
                  <a:rPr lang="en-US" sz="3600" baseline="30000" dirty="0">
                    <a:solidFill>
                      <a:srgbClr val="FFFF00"/>
                    </a:solidFill>
                    <a:latin typeface="Cambria Math" panose="02040503050406030204" pitchFamily="18" charset="0"/>
                    <a:ea typeface="Cambria Math" panose="02040503050406030204" pitchFamily="18" charset="0"/>
                  </a:rPr>
                  <a:t>50</a:t>
                </a:r>
                <a:r>
                  <a:rPr lang="en-US" sz="3600" dirty="0">
                    <a:solidFill>
                      <a:srgbClr val="FFFF00"/>
                    </a:solidFill>
                    <a:latin typeface="Cambria Math" panose="02040503050406030204" pitchFamily="18" charset="0"/>
                    <a:ea typeface="Cambria Math" panose="02040503050406030204" pitchFamily="18" charset="0"/>
                  </a:rPr>
                  <a:t>C</a:t>
                </a:r>
                <a:r>
                  <a:rPr lang="en-US" sz="3600" baseline="-25000" dirty="0">
                    <a:solidFill>
                      <a:srgbClr val="FFFF00"/>
                    </a:solidFill>
                    <a:latin typeface="Cambria Math" panose="02040503050406030204" pitchFamily="18" charset="0"/>
                    <a:ea typeface="Cambria Math" panose="02040503050406030204" pitchFamily="18" charset="0"/>
                  </a:rPr>
                  <a:t>2</a:t>
                </a:r>
                <a:r>
                  <a:rPr lang="en-US" sz="3600" dirty="0">
                    <a:solidFill>
                      <a:srgbClr val="FFFF00"/>
                    </a:solidFill>
                    <a:latin typeface="Cambria Math" panose="02040503050406030204" pitchFamily="18" charset="0"/>
                    <a:ea typeface="Cambria Math" panose="02040503050406030204" pitchFamily="18" charset="0"/>
                  </a:rPr>
                  <a:t>, … , </a:t>
                </a:r>
                <a:r>
                  <a:rPr lang="en-US" sz="3600" baseline="30000" dirty="0">
                    <a:solidFill>
                      <a:srgbClr val="FFFF00"/>
                    </a:solidFill>
                    <a:latin typeface="Cambria Math" panose="02040503050406030204" pitchFamily="18" charset="0"/>
                    <a:ea typeface="Cambria Math" panose="02040503050406030204" pitchFamily="18" charset="0"/>
                  </a:rPr>
                  <a:t>50</a:t>
                </a:r>
                <a:r>
                  <a:rPr lang="en-US" sz="3600" dirty="0">
                    <a:solidFill>
                      <a:srgbClr val="FFFF00"/>
                    </a:solidFill>
                    <a:latin typeface="Cambria Math" panose="02040503050406030204" pitchFamily="18" charset="0"/>
                    <a:ea typeface="Cambria Math" panose="02040503050406030204" pitchFamily="18" charset="0"/>
                  </a:rPr>
                  <a:t>C</a:t>
                </a:r>
                <a:r>
                  <a:rPr lang="en-US" sz="3600" baseline="-25000" dirty="0">
                    <a:solidFill>
                      <a:srgbClr val="FFFF00"/>
                    </a:solidFill>
                    <a:latin typeface="Cambria Math" panose="02040503050406030204" pitchFamily="18" charset="0"/>
                    <a:ea typeface="Cambria Math" panose="02040503050406030204" pitchFamily="18" charset="0"/>
                  </a:rPr>
                  <a:t>50</a:t>
                </a:r>
                <a:r>
                  <a:rPr lang="en-US" sz="3600" dirty="0">
                    <a:solidFill>
                      <a:srgbClr val="FFFF00"/>
                    </a:solidFill>
                    <a:latin typeface="Cambria Math" panose="02040503050406030204" pitchFamily="18" charset="0"/>
                    <a:ea typeface="Cambria Math" panose="02040503050406030204" pitchFamily="18" charset="0"/>
                  </a:rPr>
                  <a:t> , then the AM is</a:t>
                </a:r>
              </a:p>
              <a:p>
                <a:pPr algn="just"/>
                <a:r>
                  <a:rPr lang="en-US" sz="3600" dirty="0">
                    <a:solidFill>
                      <a:srgbClr val="FFFF00"/>
                    </a:solidFill>
                    <a:latin typeface="Cambria Math" panose="02040503050406030204" pitchFamily="18" charset="0"/>
                    <a:ea typeface="Cambria Math" panose="02040503050406030204" pitchFamily="18" charset="0"/>
                  </a:rPr>
                  <a:t>(a) 50		(b) 25</a:t>
                </a: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f>
                      <m:fPr>
                        <m:ctrlPr>
                          <a:rPr lang="en-US" sz="3600" i="1" dirty="0" smtClean="0">
                            <a:solidFill>
                              <a:srgbClr val="FFFF00"/>
                            </a:solidFill>
                            <a:latin typeface="Cambria Math" panose="02040503050406030204" pitchFamily="18" charset="0"/>
                            <a:ea typeface="Cambria Math" panose="02040503050406030204" pitchFamily="18" charset="0"/>
                          </a:rPr>
                        </m:ctrlPr>
                      </m:fPr>
                      <m:num>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r>
                              <a:rPr lang="en-US" sz="3600" i="1" dirty="0" smtClean="0">
                                <a:solidFill>
                                  <a:srgbClr val="FFFF00"/>
                                </a:solidFill>
                                <a:latin typeface="Cambria Math" panose="02040503050406030204" pitchFamily="18" charset="0"/>
                                <a:ea typeface="Cambria Math" panose="02040503050406030204" pitchFamily="18" charset="0"/>
                              </a:rPr>
                              <m:t>2</m:t>
                            </m:r>
                          </m:e>
                          <m:sup>
                            <m:r>
                              <a:rPr lang="en-US" sz="3600" i="1" dirty="0" smtClean="0">
                                <a:solidFill>
                                  <a:srgbClr val="FFFF00"/>
                                </a:solidFill>
                                <a:latin typeface="Cambria Math" panose="02040503050406030204" pitchFamily="18" charset="0"/>
                                <a:ea typeface="Cambria Math" panose="02040503050406030204" pitchFamily="18" charset="0"/>
                              </a:rPr>
                              <m:t>50</m:t>
                            </m:r>
                          </m:sup>
                        </m:sSup>
                      </m:num>
                      <m:den>
                        <m:r>
                          <a:rPr lang="en-US" sz="3600" i="1" dirty="0" smtClean="0">
                            <a:solidFill>
                              <a:srgbClr val="FFFF00"/>
                            </a:solidFill>
                            <a:latin typeface="Cambria Math" panose="02040503050406030204" pitchFamily="18" charset="0"/>
                            <a:ea typeface="Cambria Math" panose="02040503050406030204" pitchFamily="18" charset="0"/>
                          </a:rPr>
                          <m:t>50</m:t>
                        </m:r>
                      </m:den>
                    </m:f>
                  </m:oMath>
                </a14:m>
                <a:r>
                  <a:rPr lang="en-US" sz="3600" dirty="0">
                    <a:solidFill>
                      <a:srgbClr val="FFFF00"/>
                    </a:solidFill>
                    <a:latin typeface="Cambria Math" panose="02040503050406030204" pitchFamily="18" charset="0"/>
                    <a:ea typeface="Cambria Math" panose="02040503050406030204" pitchFamily="18" charset="0"/>
                  </a:rPr>
                  <a:t>		(d) 51</a:t>
                </a:r>
              </a:p>
              <a:p>
                <a:pPr algn="just"/>
                <a:r>
                  <a:rPr lang="en-US" sz="3600" dirty="0">
                    <a:solidFill>
                      <a:srgbClr val="FFFF00"/>
                    </a:solidFill>
                    <a:latin typeface="Cambria Math" panose="02040503050406030204" pitchFamily="18" charset="0"/>
                    <a:ea typeface="Cambria Math" panose="02040503050406030204" pitchFamily="18" charset="0"/>
                  </a:rPr>
                  <a:t>                                                      [NIMCET 2021]</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873192" y="366623"/>
                <a:ext cx="10445615" cy="3732945"/>
              </a:xfrm>
              <a:prstGeom prst="rect">
                <a:avLst/>
              </a:prstGeom>
              <a:blipFill>
                <a:blip r:embed="rId2"/>
                <a:stretch>
                  <a:fillRect l="-1750" t="-2447" r="-2684"/>
                </a:stretch>
              </a:blipFill>
            </p:spPr>
            <p:txBody>
              <a:bodyPr/>
              <a:lstStyle/>
              <a:p>
                <a:r>
                  <a:rPr lang="en-US">
                    <a:noFill/>
                  </a:rPr>
                  <a:t> </a:t>
                </a:r>
              </a:p>
            </p:txBody>
          </p:sp>
        </mc:Fallback>
      </mc:AlternateContent>
    </p:spTree>
    <p:extLst>
      <p:ext uri="{BB962C8B-B14F-4D97-AF65-F5344CB8AC3E}">
        <p14:creationId xmlns:p14="http://schemas.microsoft.com/office/powerpoint/2010/main" val="3574679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3416320"/>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standard deviation of 20 numbers is 30. If each of the numbers is increased by 4, then the new standard deviation will be </a:t>
            </a:r>
          </a:p>
          <a:p>
            <a:pPr algn="just"/>
            <a:r>
              <a:rPr lang="en-US" sz="3600" dirty="0">
                <a:solidFill>
                  <a:srgbClr val="FFFF00"/>
                </a:solidFill>
                <a:latin typeface="Cambria Math" panose="02040503050406030204" pitchFamily="18" charset="0"/>
                <a:ea typeface="Cambria Math" panose="02040503050406030204" pitchFamily="18" charset="0"/>
              </a:rPr>
              <a:t>(a) 24		(b) 34</a:t>
            </a:r>
          </a:p>
          <a:p>
            <a:pPr algn="just"/>
            <a:r>
              <a:rPr lang="en-US" sz="3600" dirty="0">
                <a:solidFill>
                  <a:srgbClr val="FFFF00"/>
                </a:solidFill>
                <a:latin typeface="Cambria Math" panose="02040503050406030204" pitchFamily="18" charset="0"/>
                <a:ea typeface="Cambria Math" panose="02040503050406030204" pitchFamily="18" charset="0"/>
              </a:rPr>
              <a:t>(c) 30		(d) 20</a:t>
            </a:r>
          </a:p>
          <a:p>
            <a:pPr algn="r"/>
            <a:r>
              <a:rPr lang="en-US" sz="3600" dirty="0">
                <a:solidFill>
                  <a:srgbClr val="FFFF00"/>
                </a:solidFill>
                <a:latin typeface="Cambria Math" panose="02040503050406030204" pitchFamily="18" charset="0"/>
                <a:ea typeface="Cambria Math" panose="02040503050406030204" pitchFamily="18" charset="0"/>
              </a:rPr>
              <a:t>		[NIMCET 2021]</a:t>
            </a:r>
          </a:p>
        </p:txBody>
      </p:sp>
    </p:spTree>
    <p:extLst>
      <p:ext uri="{BB962C8B-B14F-4D97-AF65-F5344CB8AC3E}">
        <p14:creationId xmlns:p14="http://schemas.microsoft.com/office/powerpoint/2010/main" val="3656787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3416320"/>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mean of 25 observations was found to be 38. It was later discovered that 23 and 38 were misread as 25 and 36, then the mean is</a:t>
            </a:r>
          </a:p>
          <a:p>
            <a:pPr algn="just"/>
            <a:r>
              <a:rPr lang="en-US" sz="3600" dirty="0">
                <a:solidFill>
                  <a:srgbClr val="FFFF00"/>
                </a:solidFill>
                <a:latin typeface="Cambria Math" panose="02040503050406030204" pitchFamily="18" charset="0"/>
                <a:ea typeface="Cambria Math" panose="02040503050406030204" pitchFamily="18" charset="0"/>
              </a:rPr>
              <a:t>(a) 32		(b) 36</a:t>
            </a:r>
          </a:p>
          <a:p>
            <a:pPr algn="just"/>
            <a:r>
              <a:rPr lang="en-US" sz="3600" dirty="0">
                <a:solidFill>
                  <a:srgbClr val="FFFF00"/>
                </a:solidFill>
                <a:latin typeface="Cambria Math" panose="02040503050406030204" pitchFamily="18" charset="0"/>
                <a:ea typeface="Cambria Math" panose="02040503050406030204" pitchFamily="18" charset="0"/>
              </a:rPr>
              <a:t>(c) 38		(d) 42</a:t>
            </a:r>
          </a:p>
          <a:p>
            <a:pPr algn="r"/>
            <a:r>
              <a:rPr lang="en-US" sz="3600" dirty="0">
                <a:solidFill>
                  <a:srgbClr val="FFFF00"/>
                </a:solidFill>
                <a:latin typeface="Cambria Math" panose="02040503050406030204" pitchFamily="18" charset="0"/>
                <a:ea typeface="Cambria Math" panose="02040503050406030204" pitchFamily="18" charset="0"/>
              </a:rPr>
              <a:t>[NIMCET 2022]</a:t>
            </a:r>
          </a:p>
        </p:txBody>
      </p:sp>
    </p:spTree>
    <p:extLst>
      <p:ext uri="{BB962C8B-B14F-4D97-AF65-F5344CB8AC3E}">
        <p14:creationId xmlns:p14="http://schemas.microsoft.com/office/powerpoint/2010/main" val="2051249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4064767"/>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If </a:t>
                </a:r>
                <a14:m>
                  <m:oMath xmlns:m="http://schemas.openxmlformats.org/officeDocument/2006/math">
                    <m:sSub>
                      <m:sSubPr>
                        <m:ctrlPr>
                          <a:rPr lang="en-US" sz="3600" b="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1</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b="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2</m:t>
                        </m:r>
                      </m:sub>
                    </m:sSub>
                    <m:r>
                      <a:rPr lang="en-US" sz="3600" i="1" dirty="0" smtClean="0">
                        <a:solidFill>
                          <a:srgbClr val="FFFF00"/>
                        </a:solidFill>
                        <a:latin typeface="Cambria Math" panose="02040503050406030204" pitchFamily="18" charset="0"/>
                        <a:ea typeface="Cambria Math" panose="02040503050406030204" pitchFamily="18" charset="0"/>
                      </a:rPr>
                      <m:t>,…,</m:t>
                    </m:r>
                    <m:sSub>
                      <m:sSubPr>
                        <m:ctrlPr>
                          <a:rPr lang="en-US" sz="3600" b="0" i="1" dirty="0" smtClean="0">
                            <a:solidFill>
                              <a:srgbClr val="FFFF00"/>
                            </a:solidFill>
                            <a:latin typeface="Cambria Math" panose="02040503050406030204" pitchFamily="18" charset="0"/>
                            <a:ea typeface="Cambria Math" panose="02040503050406030204" pitchFamily="18" charset="0"/>
                          </a:rPr>
                        </m:ctrlPr>
                      </m:sSub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𝑛</m:t>
                        </m:r>
                      </m:sub>
                    </m:sSub>
                  </m:oMath>
                </a14:m>
                <a:r>
                  <a:rPr lang="en-US" sz="3600" dirty="0">
                    <a:solidFill>
                      <a:srgbClr val="FFFF00"/>
                    </a:solidFill>
                    <a:latin typeface="Cambria Math" panose="02040503050406030204" pitchFamily="18" charset="0"/>
                    <a:ea typeface="Cambria Math" panose="02040503050406030204" pitchFamily="18" charset="0"/>
                  </a:rPr>
                  <a:t> are any real numbers and n is any positive integer, then</a:t>
                </a:r>
              </a:p>
              <a:p>
                <a:pPr algn="just"/>
                <a:r>
                  <a:rPr lang="en-US" sz="3600" dirty="0">
                    <a:solidFill>
                      <a:srgbClr val="FFFF00"/>
                    </a:solidFill>
                    <a:latin typeface="Cambria Math" panose="02040503050406030204" pitchFamily="18" charset="0"/>
                    <a:ea typeface="Cambria Math" panose="02040503050406030204" pitchFamily="18" charset="0"/>
                  </a:rPr>
                  <a:t>(a) </a:t>
                </a:r>
                <a14:m>
                  <m:oMath xmlns:m="http://schemas.openxmlformats.org/officeDocument/2006/math">
                    <m:r>
                      <a:rPr lang="en-US" sz="3600" i="1" dirty="0" smtClean="0">
                        <a:solidFill>
                          <a:srgbClr val="FFFF00"/>
                        </a:solidFill>
                        <a:latin typeface="Cambria Math" panose="02040503050406030204" pitchFamily="18" charset="0"/>
                        <a:ea typeface="Cambria Math" panose="02040503050406030204" pitchFamily="18" charset="0"/>
                      </a:rPr>
                      <m:t>𝑛</m:t>
                    </m:r>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err="1"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𝑖</m:t>
                        </m:r>
                      </m:sub>
                      <m:sup>
                        <m:r>
                          <a:rPr lang="en-US" sz="3600" i="1" dirty="0" smtClean="0">
                            <a:solidFill>
                              <a:srgbClr val="FFFF00"/>
                            </a:solidFill>
                            <a:latin typeface="Cambria Math" panose="02040503050406030204" pitchFamily="18" charset="0"/>
                            <a:ea typeface="Cambria Math" panose="02040503050406030204" pitchFamily="18" charset="0"/>
                          </a:rPr>
                          <m:t>2</m:t>
                        </m:r>
                      </m:sup>
                    </m:sSubSup>
                    <m:r>
                      <a:rPr lang="en-US" sz="3600" i="1" dirty="0" smtClean="0">
                        <a:solidFill>
                          <a:srgbClr val="FFFF00"/>
                        </a:solidFill>
                        <a:latin typeface="Cambria Math" panose="02040503050406030204" pitchFamily="18" charset="0"/>
                        <a:ea typeface="Cambria Math" panose="02040503050406030204" pitchFamily="18" charset="0"/>
                      </a:rPr>
                      <m:t>&lt;</m:t>
                    </m:r>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d>
                          <m:dPr>
                            <m:ctrlPr>
                              <a:rPr lang="en-US" sz="3600" i="1" dirty="0" smtClean="0">
                                <a:solidFill>
                                  <a:srgbClr val="FFFF00"/>
                                </a:solidFill>
                                <a:latin typeface="Cambria Math" panose="02040503050406030204" pitchFamily="18" charset="0"/>
                                <a:ea typeface="Cambria Math" panose="02040503050406030204" pitchFamily="18" charset="0"/>
                              </a:rPr>
                            </m:ctrlPr>
                          </m:dPr>
                          <m:e>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𝑎</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e>
                        </m:d>
                      </m:e>
                      <m:sup>
                        <m:r>
                          <a:rPr lang="en-US" sz="3600" i="1" dirty="0" smtClean="0">
                            <a:solidFill>
                              <a:srgbClr val="FFFF00"/>
                            </a:solidFill>
                            <a:latin typeface="Cambria Math" panose="02040503050406030204" pitchFamily="18" charset="0"/>
                            <a:ea typeface="Cambria Math" panose="02040503050406030204" pitchFamily="18" charset="0"/>
                          </a:rPr>
                          <m:t>2</m:t>
                        </m:r>
                      </m:sup>
                    </m:sSup>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(b) </a:t>
                </a:r>
                <a14:m>
                  <m:oMath xmlns:m="http://schemas.openxmlformats.org/officeDocument/2006/math">
                    <m:r>
                      <a:rPr lang="en-US" sz="3600" i="1" dirty="0" smtClean="0">
                        <a:solidFill>
                          <a:srgbClr val="FFFF00"/>
                        </a:solidFill>
                        <a:latin typeface="Cambria Math" panose="02040503050406030204" pitchFamily="18" charset="0"/>
                        <a:ea typeface="Cambria Math" panose="02040503050406030204" pitchFamily="18" charset="0"/>
                      </a:rPr>
                      <m:t>𝑛</m:t>
                    </m:r>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err="1"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𝑖</m:t>
                        </m:r>
                      </m:sub>
                      <m:sup>
                        <m:r>
                          <a:rPr lang="en-US" sz="3600" i="1" dirty="0" smtClean="0">
                            <a:solidFill>
                              <a:srgbClr val="FFFF00"/>
                            </a:solidFill>
                            <a:latin typeface="Cambria Math" panose="02040503050406030204" pitchFamily="18" charset="0"/>
                            <a:ea typeface="Cambria Math" panose="02040503050406030204" pitchFamily="18" charset="0"/>
                          </a:rPr>
                          <m:t>2</m:t>
                        </m:r>
                      </m:sup>
                    </m:sSubSup>
                    <m:r>
                      <a:rPr lang="en-US" sz="3600" i="1" dirty="0" smtClean="0">
                        <a:solidFill>
                          <a:srgbClr val="FFFF00"/>
                        </a:solidFill>
                        <a:latin typeface="Cambria Math" panose="02040503050406030204" pitchFamily="18" charset="0"/>
                        <a:ea typeface="Cambria Math" panose="02040503050406030204" pitchFamily="18" charset="0"/>
                      </a:rPr>
                      <m:t>≥</m:t>
                    </m:r>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d>
                          <m:dPr>
                            <m:ctrlPr>
                              <a:rPr lang="en-US" sz="3600" i="1" dirty="0" smtClean="0">
                                <a:solidFill>
                                  <a:srgbClr val="FFFF00"/>
                                </a:solidFill>
                                <a:latin typeface="Cambria Math" panose="02040503050406030204" pitchFamily="18" charset="0"/>
                                <a:ea typeface="Cambria Math" panose="02040503050406030204" pitchFamily="18" charset="0"/>
                              </a:rPr>
                            </m:ctrlPr>
                          </m:dPr>
                          <m:e>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𝑎</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e>
                        </m:d>
                      </m:e>
                      <m:sup>
                        <m:r>
                          <a:rPr lang="en-US" sz="3600" i="1" dirty="0" smtClean="0">
                            <a:solidFill>
                              <a:srgbClr val="FFFF00"/>
                            </a:solidFill>
                            <a:latin typeface="Cambria Math" panose="02040503050406030204" pitchFamily="18" charset="0"/>
                            <a:ea typeface="Cambria Math" panose="02040503050406030204" pitchFamily="18" charset="0"/>
                          </a:rPr>
                          <m:t>2</m:t>
                        </m:r>
                      </m:sup>
                    </m:sSup>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(c) </a:t>
                </a:r>
                <a14:m>
                  <m:oMath xmlns:m="http://schemas.openxmlformats.org/officeDocument/2006/math">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a:rPr lang="en-US" sz="3600" i="1" dirty="0" smtClean="0">
                            <a:solidFill>
                              <a:srgbClr val="FFFF00"/>
                            </a:solidFill>
                            <a:latin typeface="Cambria Math" panose="02040503050406030204" pitchFamily="18" charset="0"/>
                            <a:ea typeface="Cambria Math" panose="02040503050406030204" pitchFamily="18" charset="0"/>
                          </a:rPr>
                          <m:t>𝑎</m:t>
                        </m:r>
                      </m:e>
                      <m:sub>
                        <m:r>
                          <a:rPr lang="en-US" sz="3600" i="1" dirty="0" smtClean="0">
                            <a:solidFill>
                              <a:srgbClr val="FFFF00"/>
                            </a:solidFill>
                            <a:latin typeface="Cambria Math" panose="02040503050406030204" pitchFamily="18" charset="0"/>
                            <a:ea typeface="Cambria Math" panose="02040503050406030204" pitchFamily="18" charset="0"/>
                          </a:rPr>
                          <m:t>𝑖</m:t>
                        </m:r>
                      </m:sub>
                      <m:sup>
                        <m:r>
                          <a:rPr lang="en-US" sz="3600" i="1" dirty="0" smtClean="0">
                            <a:solidFill>
                              <a:srgbClr val="FFFF00"/>
                            </a:solidFill>
                            <a:latin typeface="Cambria Math" panose="02040503050406030204" pitchFamily="18" charset="0"/>
                            <a:ea typeface="Cambria Math" panose="02040503050406030204" pitchFamily="18" charset="0"/>
                          </a:rPr>
                          <m:t>2</m:t>
                        </m:r>
                      </m:sup>
                    </m:sSubSup>
                    <m:r>
                      <a:rPr lang="en-US" sz="3600" i="1" dirty="0" smtClean="0">
                        <a:solidFill>
                          <a:srgbClr val="FFFF00"/>
                        </a:solidFill>
                        <a:latin typeface="Cambria Math" panose="02040503050406030204" pitchFamily="18" charset="0"/>
                        <a:ea typeface="Cambria Math" panose="02040503050406030204" pitchFamily="18" charset="0"/>
                      </a:rPr>
                      <m:t>≥</m:t>
                    </m:r>
                    <m:sSup>
                      <m:sSupPr>
                        <m:ctrlPr>
                          <a:rPr lang="en-US" sz="3600" i="1" dirty="0" smtClean="0">
                            <a:solidFill>
                              <a:srgbClr val="FFFF00"/>
                            </a:solidFill>
                            <a:latin typeface="Cambria Math" panose="02040503050406030204" pitchFamily="18" charset="0"/>
                            <a:ea typeface="Cambria Math" panose="02040503050406030204" pitchFamily="18" charset="0"/>
                          </a:rPr>
                        </m:ctrlPr>
                      </m:sSupPr>
                      <m:e>
                        <m:d>
                          <m:dPr>
                            <m:ctrlPr>
                              <a:rPr lang="en-US" sz="3600" i="1" dirty="0" smtClean="0">
                                <a:solidFill>
                                  <a:srgbClr val="FFFF00"/>
                                </a:solidFill>
                                <a:latin typeface="Cambria Math" panose="02040503050406030204" pitchFamily="18" charset="0"/>
                                <a:ea typeface="Cambria Math" panose="02040503050406030204" pitchFamily="18" charset="0"/>
                              </a:rPr>
                            </m:ctrlPr>
                          </m:dPr>
                          <m:e>
                            <m:sSubSup>
                              <m:sSubSupPr>
                                <m:ctrlPr>
                                  <a:rPr lang="en-US" sz="3600" i="1" dirty="0" smtClean="0">
                                    <a:solidFill>
                                      <a:srgbClr val="FFFF00"/>
                                    </a:solidFill>
                                    <a:latin typeface="Cambria Math" panose="02040503050406030204" pitchFamily="18" charset="0"/>
                                    <a:ea typeface="Cambria Math" panose="02040503050406030204" pitchFamily="18" charset="0"/>
                                  </a:rPr>
                                </m:ctrlPr>
                              </m:sSubSupPr>
                              <m:e>
                                <m:r>
                                  <m:rPr>
                                    <m:sty m:val="p"/>
                                  </m:rPr>
                                  <a:rPr lang="en-US" sz="3600" i="0" dirty="0" smtClean="0">
                                    <a:solidFill>
                                      <a:srgbClr val="FFFF00"/>
                                    </a:solidFill>
                                    <a:latin typeface="Cambria Math" panose="02040503050406030204" pitchFamily="18" charset="0"/>
                                    <a:ea typeface="Cambria Math" panose="02040503050406030204" pitchFamily="18" charset="0"/>
                                  </a:rPr>
                                  <m:t>Σ</m:t>
                                </m:r>
                              </m:e>
                              <m:sub>
                                <m:r>
                                  <a:rPr lang="en-US" sz="3600" i="1" dirty="0" err="1" smtClean="0">
                                    <a:solidFill>
                                      <a:srgbClr val="FFFF00"/>
                                    </a:solidFill>
                                    <a:latin typeface="Cambria Math" panose="02040503050406030204" pitchFamily="18" charset="0"/>
                                    <a:ea typeface="Cambria Math" panose="02040503050406030204" pitchFamily="18" charset="0"/>
                                  </a:rPr>
                                  <m:t>𝑖</m:t>
                                </m:r>
                                <m:r>
                                  <a:rPr lang="en-US" sz="3600" i="1" dirty="0" smtClean="0">
                                    <a:solidFill>
                                      <a:srgbClr val="FFFF00"/>
                                    </a:solidFill>
                                    <a:latin typeface="Cambria Math" panose="02040503050406030204" pitchFamily="18" charset="0"/>
                                    <a:ea typeface="Cambria Math" panose="02040503050406030204" pitchFamily="18" charset="0"/>
                                  </a:rPr>
                                  <m:t>=</m:t>
                                </m:r>
                                <m:r>
                                  <a:rPr lang="en-US" sz="3600" i="1" dirty="0" smtClean="0">
                                    <a:solidFill>
                                      <a:srgbClr val="FFFF00"/>
                                    </a:solidFill>
                                    <a:latin typeface="Cambria Math" panose="02040503050406030204" pitchFamily="18" charset="0"/>
                                    <a:ea typeface="Cambria Math" panose="02040503050406030204" pitchFamily="18" charset="0"/>
                                  </a:rPr>
                                  <m:t>1</m:t>
                                </m:r>
                              </m:sub>
                              <m:sup>
                                <m:r>
                                  <a:rPr lang="en-US" sz="3600" i="1" dirty="0" smtClean="0">
                                    <a:solidFill>
                                      <a:srgbClr val="FFFF00"/>
                                    </a:solidFill>
                                    <a:latin typeface="Cambria Math" panose="02040503050406030204" pitchFamily="18" charset="0"/>
                                    <a:ea typeface="Cambria Math" panose="02040503050406030204" pitchFamily="18" charset="0"/>
                                  </a:rPr>
                                  <m:t>𝑛</m:t>
                                </m:r>
                              </m:sup>
                            </m:sSubSup>
                            <m:sSub>
                              <m:sSubPr>
                                <m:ctrlPr>
                                  <a:rPr lang="en-US" sz="3600" i="1" dirty="0" err="1" smtClean="0">
                                    <a:solidFill>
                                      <a:srgbClr val="FFFF00"/>
                                    </a:solidFill>
                                    <a:latin typeface="Cambria Math" panose="02040503050406030204" pitchFamily="18" charset="0"/>
                                    <a:ea typeface="Cambria Math" panose="02040503050406030204" pitchFamily="18" charset="0"/>
                                  </a:rPr>
                                </m:ctrlPr>
                              </m:sSubPr>
                              <m:e>
                                <m:r>
                                  <a:rPr lang="en-US" sz="3600" i="1" dirty="0" err="1" smtClean="0">
                                    <a:solidFill>
                                      <a:srgbClr val="FFFF00"/>
                                    </a:solidFill>
                                    <a:latin typeface="Cambria Math" panose="02040503050406030204" pitchFamily="18" charset="0"/>
                                    <a:ea typeface="Cambria Math" panose="02040503050406030204" pitchFamily="18" charset="0"/>
                                  </a:rPr>
                                  <m:t>𝑎</m:t>
                                </m:r>
                              </m:e>
                              <m:sub>
                                <m:r>
                                  <a:rPr lang="en-US" sz="3600" i="1" dirty="0" err="1" smtClean="0">
                                    <a:solidFill>
                                      <a:srgbClr val="FFFF00"/>
                                    </a:solidFill>
                                    <a:latin typeface="Cambria Math" panose="02040503050406030204" pitchFamily="18" charset="0"/>
                                    <a:ea typeface="Cambria Math" panose="02040503050406030204" pitchFamily="18" charset="0"/>
                                  </a:rPr>
                                  <m:t>𝑖</m:t>
                                </m:r>
                              </m:sub>
                            </m:sSub>
                          </m:e>
                        </m:d>
                      </m:e>
                      <m:sup>
                        <m:r>
                          <a:rPr lang="en-US" sz="3600" i="1" dirty="0" smtClean="0">
                            <a:solidFill>
                              <a:srgbClr val="FFFF00"/>
                            </a:solidFill>
                            <a:latin typeface="Cambria Math" panose="02040503050406030204" pitchFamily="18" charset="0"/>
                            <a:ea typeface="Cambria Math" panose="02040503050406030204" pitchFamily="18" charset="0"/>
                          </a:rPr>
                          <m:t>2</m:t>
                        </m:r>
                      </m:sup>
                    </m:sSup>
                  </m:oMath>
                </a14:m>
                <a:endParaRPr lang="en-US" sz="3600" dirty="0">
                  <a:solidFill>
                    <a:srgbClr val="FFFF00"/>
                  </a:solidFill>
                  <a:latin typeface="Cambria Math" panose="02040503050406030204" pitchFamily="18" charset="0"/>
                  <a:ea typeface="Cambria Math" panose="02040503050406030204" pitchFamily="18" charset="0"/>
                </a:endParaRPr>
              </a:p>
              <a:p>
                <a:pPr algn="just"/>
                <a:r>
                  <a:rPr lang="en-US" sz="3600" dirty="0">
                    <a:solidFill>
                      <a:srgbClr val="FFFF00"/>
                    </a:solidFill>
                    <a:latin typeface="Cambria Math" panose="02040503050406030204" pitchFamily="18" charset="0"/>
                    <a:ea typeface="Cambria Math" panose="02040503050406030204" pitchFamily="18" charset="0"/>
                  </a:rPr>
                  <a:t>(d) None of the above 	</a:t>
                </a:r>
              </a:p>
              <a:p>
                <a:pPr algn="r"/>
                <a:r>
                  <a:rPr lang="en-US" sz="3600" dirty="0">
                    <a:solidFill>
                      <a:srgbClr val="FFFF00"/>
                    </a:solidFill>
                    <a:latin typeface="Cambria Math" panose="02040503050406030204" pitchFamily="18" charset="0"/>
                    <a:ea typeface="Cambria Math" panose="02040503050406030204" pitchFamily="18" charset="0"/>
                  </a:rPr>
                  <a:t>[NIMCET 2022]</a:t>
                </a:r>
              </a:p>
            </p:txBody>
          </p:sp>
        </mc:Choice>
        <mc:Fallback>
          <p:sp>
            <p:nvSpPr>
              <p:cNvPr id="5" name="TextBox 4">
                <a:extLst>
                  <a:ext uri="{FF2B5EF4-FFF2-40B4-BE49-F238E27FC236}">
                    <a16:creationId xmlns:a16="http://schemas.microsoft.com/office/drawing/2014/main" id="{B190B8A8-4C8B-22B4-1ABC-853303632136}"/>
                  </a:ext>
                </a:extLst>
              </p:cNvPr>
              <p:cNvSpPr txBox="1">
                <a:spLocks noRot="1" noChangeAspect="1" noMove="1" noResize="1" noEditPoints="1" noAdjustHandles="1" noChangeArrowheads="1" noChangeShapeType="1" noTextEdit="1"/>
              </p:cNvSpPr>
              <p:nvPr/>
            </p:nvSpPr>
            <p:spPr>
              <a:xfrm>
                <a:off x="873192" y="366623"/>
                <a:ext cx="10445615" cy="4064767"/>
              </a:xfrm>
              <a:prstGeom prst="rect">
                <a:avLst/>
              </a:prstGeom>
              <a:blipFill>
                <a:blip r:embed="rId2"/>
                <a:stretch>
                  <a:fillRect l="-1750" t="-2249" r="-1750" b="-4648"/>
                </a:stretch>
              </a:blipFill>
            </p:spPr>
            <p:txBody>
              <a:bodyPr/>
              <a:lstStyle/>
              <a:p>
                <a:r>
                  <a:rPr lang="en-US">
                    <a:noFill/>
                  </a:rPr>
                  <a:t> </a:t>
                </a:r>
              </a:p>
            </p:txBody>
          </p:sp>
        </mc:Fallback>
      </mc:AlternateContent>
    </p:spTree>
    <p:extLst>
      <p:ext uri="{BB962C8B-B14F-4D97-AF65-F5344CB8AC3E}">
        <p14:creationId xmlns:p14="http://schemas.microsoft.com/office/powerpoint/2010/main" val="775639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3970318"/>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first three moments of a distribution about 2 are 1, 16, -40 respectively. The mean and variance of the distribution are</a:t>
            </a:r>
          </a:p>
          <a:p>
            <a:pPr algn="just"/>
            <a:r>
              <a:rPr lang="en-US" sz="3600" dirty="0">
                <a:solidFill>
                  <a:srgbClr val="FFFF00"/>
                </a:solidFill>
                <a:latin typeface="Cambria Math" panose="02040503050406030204" pitchFamily="18" charset="0"/>
                <a:ea typeface="Cambria Math" panose="02040503050406030204" pitchFamily="18" charset="0"/>
              </a:rPr>
              <a:t>(a) (2,16)		(b) (2,15)</a:t>
            </a:r>
          </a:p>
          <a:p>
            <a:pPr algn="just"/>
            <a:r>
              <a:rPr lang="en-US" sz="3600" dirty="0">
                <a:solidFill>
                  <a:srgbClr val="FFFF00"/>
                </a:solidFill>
                <a:latin typeface="Cambria Math" panose="02040503050406030204" pitchFamily="18" charset="0"/>
                <a:ea typeface="Cambria Math" panose="02040503050406030204" pitchFamily="18" charset="0"/>
              </a:rPr>
              <a:t>(c) (3,15)		(d) (1,16)</a:t>
            </a:r>
          </a:p>
          <a:p>
            <a:pPr algn="r"/>
            <a:r>
              <a:rPr lang="en-US" sz="3600" dirty="0">
                <a:solidFill>
                  <a:srgbClr val="FFFF00"/>
                </a:solidFill>
                <a:latin typeface="Cambria Math" panose="02040503050406030204" pitchFamily="18" charset="0"/>
                <a:ea typeface="Cambria Math" panose="02040503050406030204" pitchFamily="18" charset="0"/>
              </a:rPr>
              <a:t>[NIMCET 2022]</a:t>
            </a:r>
          </a:p>
          <a:p>
            <a:pPr algn="just"/>
            <a:endParaRPr lang="en-US" sz="3600" dirty="0">
              <a:solidFill>
                <a:srgbClr val="FFFF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82920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90B8A8-4C8B-22B4-1ABC-853303632136}"/>
              </a:ext>
            </a:extLst>
          </p:cNvPr>
          <p:cNvSpPr txBox="1"/>
          <p:nvPr/>
        </p:nvSpPr>
        <p:spPr>
          <a:xfrm>
            <a:off x="873192" y="366623"/>
            <a:ext cx="10445615" cy="2862322"/>
          </a:xfrm>
          <a:prstGeom prst="rect">
            <a:avLst/>
          </a:prstGeom>
          <a:noFill/>
        </p:spPr>
        <p:txBody>
          <a:bodyPr wrap="square">
            <a:spAutoFit/>
          </a:bodyPr>
          <a:lstStyle/>
          <a:p>
            <a:pPr algn="just"/>
            <a:r>
              <a:rPr lang="en-US" sz="3600" dirty="0">
                <a:solidFill>
                  <a:srgbClr val="FFFF00"/>
                </a:solidFill>
                <a:latin typeface="Cambria Math" panose="02040503050406030204" pitchFamily="18" charset="0"/>
                <a:ea typeface="Cambria Math" panose="02040503050406030204" pitchFamily="18" charset="0"/>
              </a:rPr>
              <a:t>The 10th and 50th percentiles of the observation 32, 49, 23, 29, 118 respectively are</a:t>
            </a:r>
          </a:p>
          <a:p>
            <a:pPr algn="just"/>
            <a:r>
              <a:rPr lang="en-US" sz="3600" dirty="0">
                <a:solidFill>
                  <a:srgbClr val="FFFF00"/>
                </a:solidFill>
                <a:latin typeface="Cambria Math" panose="02040503050406030204" pitchFamily="18" charset="0"/>
                <a:ea typeface="Cambria Math" panose="02040503050406030204" pitchFamily="18" charset="0"/>
              </a:rPr>
              <a:t>(a) 21, 32		(b) 23, 32</a:t>
            </a:r>
          </a:p>
          <a:p>
            <a:pPr algn="just"/>
            <a:r>
              <a:rPr lang="en-US" sz="3600" dirty="0">
                <a:solidFill>
                  <a:srgbClr val="FFFF00"/>
                </a:solidFill>
                <a:latin typeface="Cambria Math" panose="02040503050406030204" pitchFamily="18" charset="0"/>
                <a:ea typeface="Cambria Math" panose="02040503050406030204" pitchFamily="18" charset="0"/>
              </a:rPr>
              <a:t>(c) 23, 33		(d) 22, 31</a:t>
            </a:r>
          </a:p>
          <a:p>
            <a:pPr algn="r"/>
            <a:r>
              <a:rPr lang="en-US" sz="3600" dirty="0">
                <a:solidFill>
                  <a:srgbClr val="FFFF00"/>
                </a:solidFill>
                <a:latin typeface="Cambria Math" panose="02040503050406030204" pitchFamily="18" charset="0"/>
                <a:ea typeface="Cambria Math" panose="02040503050406030204" pitchFamily="18" charset="0"/>
              </a:rPr>
              <a:t>[NIMCET 2022]</a:t>
            </a:r>
          </a:p>
        </p:txBody>
      </p:sp>
    </p:spTree>
    <p:extLst>
      <p:ext uri="{BB962C8B-B14F-4D97-AF65-F5344CB8AC3E}">
        <p14:creationId xmlns:p14="http://schemas.microsoft.com/office/powerpoint/2010/main" val="3734876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2709</TotalTime>
  <Words>1674</Words>
  <Application>Microsoft Office PowerPoint</Application>
  <PresentationFormat>Widescreen</PresentationFormat>
  <Paragraphs>128</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Aspire Study</dc:creator>
  <cp:lastModifiedBy>Aspire Study</cp:lastModifiedBy>
  <cp:revision>17</cp:revision>
  <dcterms:created xsi:type="dcterms:W3CDTF">2023-05-04T11:59:42Z</dcterms:created>
  <dcterms:modified xsi:type="dcterms:W3CDTF">2023-05-17T12:21:44Z</dcterms:modified>
</cp:coreProperties>
</file>