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45" r:id="rId2"/>
    <p:sldId id="480" r:id="rId3"/>
    <p:sldId id="453" r:id="rId4"/>
    <p:sldId id="457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65" r:id="rId13"/>
    <p:sldId id="467" r:id="rId14"/>
    <p:sldId id="468" r:id="rId15"/>
    <p:sldId id="446" r:id="rId16"/>
    <p:sldId id="448" r:id="rId17"/>
    <p:sldId id="450" r:id="rId18"/>
    <p:sldId id="451" r:id="rId19"/>
    <p:sldId id="452" r:id="rId20"/>
    <p:sldId id="469" r:id="rId21"/>
    <p:sldId id="470" r:id="rId22"/>
    <p:sldId id="471" r:id="rId23"/>
    <p:sldId id="472" r:id="rId24"/>
    <p:sldId id="476" r:id="rId25"/>
    <p:sldId id="475" r:id="rId26"/>
    <p:sldId id="477" r:id="rId27"/>
    <p:sldId id="478" r:id="rId28"/>
    <p:sldId id="4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788B36-5FB4-4734-A1CA-5E3844AA1797}">
          <p14:sldIdLst>
            <p14:sldId id="445"/>
            <p14:sldId id="480"/>
            <p14:sldId id="453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7"/>
            <p14:sldId id="468"/>
            <p14:sldId id="446"/>
            <p14:sldId id="448"/>
            <p14:sldId id="450"/>
            <p14:sldId id="451"/>
            <p14:sldId id="452"/>
            <p14:sldId id="469"/>
            <p14:sldId id="470"/>
            <p14:sldId id="471"/>
            <p14:sldId id="472"/>
            <p14:sldId id="476"/>
            <p14:sldId id="475"/>
            <p14:sldId id="477"/>
            <p14:sldId id="478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837" autoAdjust="0"/>
  </p:normalViewPr>
  <p:slideViewPr>
    <p:cSldViewPr snapToGrid="0">
      <p:cViewPr varScale="1">
        <p:scale>
          <a:sx n="59" d="100"/>
          <a:sy n="59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1A04-88A8-9E54-EFB5-4339B9A3A5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FC225-1A7B-C245-6C76-11E79DA91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B02DE-8EE3-A74D-9007-44B37755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EA9FA-5436-5B8F-BAFA-E588EB80A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03238-9E9A-F72C-7145-7AE9D5F9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59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B772B-6435-A7CD-8B51-80B95394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3799-F8B4-BE78-5C26-4656BDEB0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33635-CE1C-36B9-1D07-4ECCD925E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58391-1578-FFF3-4E06-23E9E49C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1E9CC-52B9-D6E8-0E08-EBA858752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5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F22B6-570B-DB58-3F4F-A666A1251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F96F4-DAF5-7D90-023F-CF4A6F0C0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FE561-F1D7-ECF2-5F93-CE1694163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99A9B-8A66-A0EA-0651-DA3B4D15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60E2C-871A-4737-4116-0C061ED4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74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4B1CE-713C-E4F7-4A65-BC461E2E1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43273-E263-891F-A663-A149CE09F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89C15-073F-AB5D-45D7-F8262A270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FC861-FF3C-2FCA-37DD-402E9A29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55997-E8E5-CF18-A8F2-AFBBEA5B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246A2-C840-F5C6-E928-2D47676BF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23A13-2B9C-C99E-838C-05BE93772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5CEFA-2C37-55F0-A1F0-2E169E206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E9EDE-655D-328C-2E60-5891B76BC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AA980-BFB4-6A28-DFD7-A62CFE17C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75111-65C6-8108-488B-1EF457A11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DD06FB-F34B-51CF-0FFF-66DC82FAD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0F3D2-6BBD-8079-4A8D-EDFC3A45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0DBDCD-4043-B8D2-5586-5A0EA87E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45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FC07-D03D-CEC7-B58F-9DD9D5F4C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CF43F-6D23-E29C-EE44-6B8D01AA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B2571-0606-D658-E4B2-2E689887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F51D47-C6CA-FE61-E63F-F5EE46DE9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3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1506B-78ED-E0B6-DB09-9C7C99CC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FB04AB-A652-8F3F-F544-22BE82995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4138D-61E7-9991-32C7-F5B3261A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29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9281-BD67-7163-5727-486333AA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ACF7-1785-2B75-969C-1428C1EA8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82109-DE30-7B18-21F2-645F13B8A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A8039-ACC1-1A6D-120F-25EF9DF4B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85344-550F-35EC-A414-1E9076B2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67C17-C3B0-3894-2045-641477EF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46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84BC-D52B-1579-5F9F-08B135AF9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BC3C71-24B4-F4ED-49ED-8D347E7B6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8E756-DD77-B4F1-2D30-0A68FBBAD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E4AD9-FCDE-8C8E-A5C9-C476D521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36380-9C37-52F9-2E31-2614C7A2A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DA46A-65C6-9682-BBD9-B6CF5CD4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710C-A191-52ED-4C2F-424466B35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52904-BE20-0545-6358-2F8AAF8D7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E0C85-EF4C-2704-7CC3-01FC9B2B8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CB130-1DF2-2721-DCD2-9D3F9B4D5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7ECE1-62C8-5F91-81CD-7C56D1E75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86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7980F2-0E17-F534-DE65-676D54723F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64F64-977A-581F-42DE-A1CD95902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B96A3-AF09-49A3-6266-CF4FAF76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C2935-E803-48C3-A262-0A5393BEE9C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79F55-F42E-4EFF-CDD4-F6FE11ED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ACB8E-1AB6-76F0-5F7E-D35D36D6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04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85E29-8DB5-8ACA-E5C0-C3D7DAC6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CE0C6-C619-7CC3-C66A-F3A77BD0D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8FFD4-F042-EAAF-20AB-CD78273DD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C2935-E803-48C3-A262-0A5393BEE9CE}" type="datetimeFigureOut">
              <a:rPr lang="en-US" smtClean="0"/>
              <a:t>5/26/2023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CDBCA-A29A-5E69-822A-A47C1A69F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F54BA-8570-3B0E-C294-9B7FE0ED9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3D2FB-F1C0-40A9-898D-37978FD51E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95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0640CE-8444-D372-EFC3-BB23835F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735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equation of the hyperbola whose focus is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(1, 2) directrix is the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eccentricity 3/2 , is </a:t>
                </a:r>
              </a:p>
              <a:p>
                <a:pPr marL="742950" indent="-742950">
                  <a:buAutoNum type="alphaLcParenBoth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+18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xy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+34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+50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−31=0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indent="-742950">
                  <a:buFontTx/>
                  <a:buAutoNum type="alphaLcParenBoth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−18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xy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−14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+31=0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indent="-742950">
                  <a:buFontTx/>
                  <a:buAutoNum type="alphaLcParenBoth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+18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xy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+34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+50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+49=0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indent="-742950">
                  <a:buFontTx/>
                  <a:buAutoNum type="alphaLcParenBoth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−18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xy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+34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+50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−31=0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4524315"/>
              </a:xfrm>
              <a:prstGeom prst="rect">
                <a:avLst/>
              </a:prstGeom>
              <a:blipFill>
                <a:blip r:embed="rId2"/>
                <a:stretch>
                  <a:fillRect l="-1960" t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980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36476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If e and </a:t>
                </a:r>
                <a14:m>
                  <m:oMath xmlns:m="http://schemas.openxmlformats.org/officeDocument/2006/math">
                    <m:r>
                      <a:rPr kumimoji="0" lang="en-US" sz="3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𝑒</m:t>
                    </m:r>
                    <m:r>
                      <a:rPr kumimoji="0" lang="en-US" sz="3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′ </m:t>
                    </m:r>
                  </m:oMath>
                </a14:m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be the eccentricities of hyperbola and its conjugate,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sz="3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3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sz="3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kumimoji="0" lang="en-US" sz="3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</m:t>
                    </m:r>
                    <m:f>
                      <m:f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0" lang="en-US" sz="3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3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sz="3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′2</m:t>
                            </m:r>
                          </m:sup>
                        </m:sSup>
                      </m:den>
                    </m:f>
                  </m:oMath>
                </a14:m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=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0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1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2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None of these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3647602"/>
              </a:xfrm>
              <a:prstGeom prst="rect">
                <a:avLst/>
              </a:prstGeom>
              <a:blipFill>
                <a:blip r:embed="rId2"/>
                <a:stretch>
                  <a:fillRect l="-1960" t="-2676" r="-1075" b="-5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4890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273628" y="692556"/>
                <a:ext cx="9644743" cy="3910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eccentricity of the conjugate hyperbola of the hyperbola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is</m:t>
                    </m:r>
                  </m:oMath>
                </a14:m>
                <a:endParaRPr lang="en-US" sz="3600" b="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0" lang="en-US" sz="3600" b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US" sz="36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628" y="692556"/>
                <a:ext cx="9644743" cy="3910942"/>
              </a:xfrm>
              <a:prstGeom prst="rect">
                <a:avLst/>
              </a:prstGeom>
              <a:blipFill>
                <a:blip r:embed="rId2"/>
                <a:stretch>
                  <a:fillRect l="-1960" t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2478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063366" y="274572"/>
                <a:ext cx="9550205" cy="3765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eccentricity of the hyperbola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b="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given by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6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		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6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</a:t>
                </a:r>
                <a:r>
                  <a:rPr lang="en-US" sz="3600" dirty="0">
                    <a:solidFill>
                      <a:srgbClr val="FFFF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6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(d)</a:t>
                </a:r>
                <a:r>
                  <a:rPr lang="en-US" sz="3600" dirty="0">
                    <a:solidFill>
                      <a:srgbClr val="FFFF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6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366" y="274572"/>
                <a:ext cx="9550205" cy="3765070"/>
              </a:xfrm>
              <a:prstGeom prst="rect">
                <a:avLst/>
              </a:prstGeom>
              <a:blipFill>
                <a:blip r:embed="rId2"/>
                <a:stretch>
                  <a:fillRect l="-1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6325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970671" y="1014605"/>
                <a:ext cx="11000935" cy="4352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−32</m:t>
                    </m:r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+12</m:t>
                    </m:r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−44=0</m:t>
                    </m:r>
                  </m:oMath>
                </a14:m>
                <a:endParaRPr lang="en-US" sz="3600" b="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Represents a hyperbola.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length of whose transverse axis is 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lang="en-US" sz="3600" b="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The length of whose conjugate axis is 4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Whose </a:t>
                </a:r>
                <a:r>
                  <a:rPr lang="en-US" sz="3600" dirty="0" err="1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centre</a:t>
                </a: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(-1,2)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Whose eccentricity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19</m:t>
                            </m:r>
                          </m:e>
                        </m:rad>
                      </m:num>
                      <m:den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3600" b="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671" y="1014605"/>
                <a:ext cx="11000935" cy="4352666"/>
              </a:xfrm>
              <a:prstGeom prst="rect">
                <a:avLst/>
              </a:prstGeom>
              <a:blipFill>
                <a:blip r:embed="rId2"/>
                <a:stretch>
                  <a:fillRect l="-1662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542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273628" y="561927"/>
                <a:ext cx="9644743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e and e’ be the eccentricities of two conics </a:t>
                </a:r>
                <a:b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 = 0 and S’ = 0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, then</a:t>
                </a:r>
                <a:r>
                  <a:rPr kumimoji="0" lang="en-US" sz="3600" b="0" i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both S and S’ can be 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baseline="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Hyperbola 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i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Ellipse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baseline="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Parabola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i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None of </a:t>
                </a: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these</a:t>
                </a: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628" y="561927"/>
                <a:ext cx="9644743" cy="3970318"/>
              </a:xfrm>
              <a:prstGeom prst="rect">
                <a:avLst/>
              </a:prstGeom>
              <a:blipFill>
                <a:blip r:embed="rId2"/>
                <a:stretch>
                  <a:fillRect l="-1960" t="-2304" b="-4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923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267767" y="251569"/>
                <a:ext cx="10176747" cy="5766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the eccentricity of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3600" b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36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kumimoji="0" lang="en-US" sz="36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3600" b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36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kumimoji="0" lang="en-US" sz="36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is</a:t>
                </a:r>
                <a:r>
                  <a:rPr kumimoji="0" lang="en-US" sz="3600" b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 the eccentricity of hyperbola passing through the foci of the ellipse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600" b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kumimoji="0" lang="en-US" sz="3600" b="0" i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US" sz="3600" b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kumimoji="0" lang="en-US" sz="3600" b="0" i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0" lang="en-US" sz="3600" b="0" i="0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, then th</a:t>
                </a:r>
                <a:r>
                  <a:rPr lang="en-US" sz="3600" noProof="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  equation of hyperbola , is 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3600" b="0" u="none" strike="noStrike" kern="1200" cap="none" spc="0" normalizeH="0" baseline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3600" b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3600" b="0" i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kumimoji="0" lang="en-US" sz="3600" b="0" i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kumimoji="0" lang="en-US" sz="3600" b="0" i="0" u="none" strike="noStrike" kern="1200" cap="none" spc="0" normalizeH="0" baseline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kumimoji="0" lang="en-US" sz="3600" b="0" i="0" u="none" strike="noStrike" kern="1200" cap="none" spc="0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kumimoji="0" lang="en-US" sz="3600" b="0" u="none" strike="noStrike" kern="1200" cap="none" spc="0" normalizeH="0" baseline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3600" b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3600" b="0" i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kumimoji="0" lang="en-US" sz="3600" b="0" i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kumimoji="0" lang="en-US" sz="3600" b="0" i="0" u="none" strike="noStrike" kern="1200" cap="none" spc="0" normalizeH="0" baseline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kumimoji="0" lang="en-US" sz="3600" b="0" i="0" u="none" strike="noStrike" kern="1200" cap="none" spc="0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3600" b="0" u="none" strike="noStrike" kern="1200" cap="none" spc="0" normalizeH="0" baseline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3600" b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3600" b="0" i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kumimoji="0" lang="en-US" sz="3600" b="0" i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kumimoji="0" lang="en-US" sz="3600" b="0" i="0" u="none" strike="noStrike" kern="1200" cap="none" spc="0" normalizeH="0" baseline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kumimoji="0" lang="en-US" sz="3600" b="0" i="0" u="none" strike="noStrike" kern="1200" cap="none" spc="0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kumimoji="0" lang="en-US" sz="3600" b="0" u="none" strike="noStrike" kern="1200" cap="none" spc="0" normalizeH="0" baseline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3600" b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3600" b="0" i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kumimoji="0" lang="en-US" sz="3600" b="0" i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kumimoji="0" lang="en-US" sz="3600" b="0" i="0" u="none" strike="noStrike" kern="1200" cap="none" spc="0" normalizeH="0" baseline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kumimoji="0" lang="en-US" sz="3600" b="0" i="0" u="none" strike="noStrike" kern="1200" cap="none" spc="0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3600" b="0" u="none" strike="noStrike" kern="1200" cap="none" spc="0" normalizeH="0" baseline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3600" b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3600" b="0" i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kumimoji="0" lang="en-US" sz="3600" b="0" i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kumimoji="0" lang="en-US" sz="3600" b="0" i="0" u="none" strike="noStrike" kern="1200" cap="none" spc="0" normalizeH="0" baseline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kumimoji="0" lang="en-US" sz="3600" b="0" i="0" u="none" strike="noStrike" kern="1200" cap="none" spc="0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kumimoji="0" lang="en-US" sz="3600" b="0" u="none" strike="noStrike" kern="1200" cap="none" spc="0" normalizeH="0" baseline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3600" b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3600" b="0" i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kumimoji="0" lang="en-US" sz="3600" b="0" i="0" u="none" strike="noStrike" kern="1200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kumimoji="0" lang="en-US" sz="3600" b="0" i="0" u="none" strike="noStrike" kern="1200" cap="none" spc="0" normalizeH="0" baseline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kumimoji="0" lang="en-US" sz="3600" b="0" i="0" u="none" strike="noStrike" kern="1200" cap="none" spc="0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None of these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767" y="251569"/>
                <a:ext cx="10176747" cy="5766450"/>
              </a:xfrm>
              <a:prstGeom prst="rect">
                <a:avLst/>
              </a:prstGeom>
              <a:blipFill>
                <a:blip r:embed="rId2"/>
                <a:stretch>
                  <a:fillRect l="-1857" b="-3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525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678046" y="937484"/>
                <a:ext cx="9644743" cy="4280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hyperbola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unc>
                          <m:func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600" b="0" i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</m:den>
                    </m:f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unc>
                          <m:func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600" b="0" i="0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</m:den>
                    </m:f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b="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which of the following remains constant with change in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600" b="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b="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Abscissae of vertices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Abscissae of foci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b="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Eccentricity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directrix</a:t>
                </a:r>
                <a:endParaRPr lang="en-US" sz="3600" b="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046" y="937484"/>
                <a:ext cx="9644743" cy="4280339"/>
              </a:xfrm>
              <a:prstGeom prst="rect">
                <a:avLst/>
              </a:prstGeom>
              <a:blipFill>
                <a:blip r:embed="rId2"/>
                <a:stretch>
                  <a:fillRect l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0734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436745" y="527456"/>
                <a:ext cx="9644743" cy="53392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equation of the hyperbola, the length of whose </a:t>
                </a:r>
                <a:r>
                  <a:rPr lang="en-US" sz="3600" dirty="0" err="1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latusrectum</a:t>
                </a: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8 and eccentricity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3600" b="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is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(a) 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(b)</a:t>
                </a:r>
                <a:r>
                  <a:rPr lang="en-US" sz="3600" b="0" dirty="0">
                    <a:solidFill>
                      <a:srgbClr val="FFFF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(c)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(d) -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</m:t>
                    </m:r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745" y="527456"/>
                <a:ext cx="9644743" cy="5339282"/>
              </a:xfrm>
              <a:prstGeom prst="rect">
                <a:avLst/>
              </a:prstGeom>
              <a:blipFill>
                <a:blip r:embed="rId2"/>
                <a:stretch>
                  <a:fillRect l="-1960" t="-1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962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447631" y="806856"/>
                <a:ext cx="9644743" cy="4280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foci of a hyperbola coincide with the foci of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</m:t>
                    </m:r>
                  </m:oMath>
                </a14:m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Find the equation of the hyperbola</a:t>
                </a:r>
                <a:r>
                  <a:rPr kumimoji="0" lang="en-US" sz="3600" b="0" i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, if its eccentricity is 2, is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baseline="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r>
                      <a:rPr lang="en-US" sz="3600" b="0" i="1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</m:t>
                    </m:r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(b)</a:t>
                </a:r>
                <a:r>
                  <a:rPr lang="en-US" sz="3600" b="0" baseline="0" dirty="0">
                    <a:solidFill>
                      <a:srgbClr val="FFFF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0" i="1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=12</m:t>
                    </m:r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(c)</a:t>
                </a:r>
                <a:r>
                  <a:rPr lang="en-US" sz="3600" b="0" baseline="0" dirty="0">
                    <a:solidFill>
                      <a:srgbClr val="FFFF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b="0" i="1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baseline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=12</m:t>
                    </m:r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(d)None of these</a:t>
                </a: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631" y="806856"/>
                <a:ext cx="9644743" cy="4280852"/>
              </a:xfrm>
              <a:prstGeom prst="rect">
                <a:avLst/>
              </a:prstGeom>
              <a:blipFill>
                <a:blip r:embed="rId2"/>
                <a:stretch>
                  <a:fillRect l="-1895" t="-2134" b="-4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659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273628" y="512942"/>
                <a:ext cx="9644743" cy="53014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eccentricity of the hyperbola whose length of the </a:t>
                </a:r>
                <a:r>
                  <a:rPr lang="en-US" sz="3600" dirty="0" err="1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latusrectum</a:t>
                </a: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equal to 8 and the length of its conjugate axis is equal to half of the distance between its foci, is 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</m:num>
                      <m:den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</m:t>
                        </m:r>
                      </m:den>
                    </m:f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0" lang="en-US" sz="3600" b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US" sz="36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num>
                      <m:den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√3</m:t>
                        </m:r>
                      </m:den>
                    </m:f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√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3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628" y="512942"/>
                <a:ext cx="9644743" cy="5301451"/>
              </a:xfrm>
              <a:prstGeom prst="rect">
                <a:avLst/>
              </a:prstGeom>
              <a:blipFill>
                <a:blip r:embed="rId2"/>
                <a:stretch>
                  <a:fillRect l="-1960" t="-1724" r="-2023"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4450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046675" y="473027"/>
                <a:ext cx="10481297" cy="50783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Let a and b respectively be the semi-transverse and semi-conjugate of a hyperbola whose eccentricity e satisfies the equation 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−18</m:t>
                    </m:r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+5=0. </m:t>
                    </m:r>
                  </m:oMath>
                </a14:m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If S(5,0) is a focus and 5x=9 is the corresponding</a:t>
                </a:r>
                <a:r>
                  <a:rPr kumimoji="0" lang="en-US" sz="3600" b="0" i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</a:t>
                </a:r>
                <a:r>
                  <a:rPr kumimoji="0" lang="en-US" sz="3600" b="0" i="0" u="none" strike="noStrike" kern="1200" cap="none" spc="0" normalizeH="0" noProof="0" dirty="0" err="1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directix</a:t>
                </a:r>
                <a:r>
                  <a:rPr kumimoji="0" lang="en-US" sz="3600" b="0" i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of hyperbola,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36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36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𝑎</m:t>
                        </m:r>
                      </m:e>
                      <m:sup>
                        <m:r>
                          <a:rPr kumimoji="0" lang="en-US" sz="36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36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𝑏</m:t>
                        </m:r>
                      </m:e>
                      <m:sup>
                        <m:r>
                          <a:rPr kumimoji="0" lang="en-US" sz="36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is equal to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-7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-5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7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675" y="473027"/>
                <a:ext cx="10481297" cy="5078313"/>
              </a:xfrm>
              <a:prstGeom prst="rect">
                <a:avLst/>
              </a:prstGeom>
              <a:blipFill>
                <a:blip r:embed="rId2"/>
                <a:stretch>
                  <a:fillRect l="-1803" t="-1921" r="-1745" b="-3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5810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273628" y="636314"/>
                <a:ext cx="9644743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equation of the hyperbola whose foci are </a:t>
                </a:r>
                <a:b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(-2,0) and (2, 0) and eccentricity 2 is given by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3</m:t>
                    </m:r>
                    <m:sSup>
                      <m:sSup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x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</m:t>
                    </m:r>
                    <m:sSup>
                      <m:sSup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y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=3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360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x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+3</m:t>
                    </m:r>
                    <m:sSup>
                      <m:sSup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y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=3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−3</m:t>
                    </m:r>
                    <m:sSup>
                      <m:sSup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x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</m:t>
                    </m:r>
                    <m:sSup>
                      <m:sSup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y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=3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x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</m:t>
                    </m:r>
                    <m:sSup>
                      <m:sSup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y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=3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628" y="636314"/>
                <a:ext cx="9644743" cy="3416320"/>
              </a:xfrm>
              <a:prstGeom prst="rect">
                <a:avLst/>
              </a:prstGeom>
              <a:blipFill>
                <a:blip r:embed="rId2"/>
                <a:stretch>
                  <a:fillRect l="-1960" t="-2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88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93371" y="513194"/>
                <a:ext cx="9644743" cy="436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the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lx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my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touches</a:t>
                </a:r>
                <a:r>
                  <a:rPr kumimoji="0" lang="en-US" sz="3600" b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 the hyperbola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3600" b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3600" b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3600" b="0" i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kumimoji="0" lang="en-US" sz="3600" b="0" i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US" sz="3600" b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3600" b="0" i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kumimoji="0" lang="en-US" sz="3600" b="0" i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kumimoji="0" lang="en-US" sz="3600" b="0" i="0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kumimoji="0" lang="en-US" sz="3600" b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3600" b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3600" b="0" i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kumimoji="0" lang="en-US" sz="3600" b="0" i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kumimoji="0" lang="en-US" sz="3600" b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sz="3600" b="0" i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kumimoji="0" lang="en-US" sz="3600" b="0" i="0" u="none" strike="noStrike" kern="1200" cap="none" spc="0" normalizeH="0" noProof="0" smtClean="0">
                                <a:ln>
                                  <a:noFill/>
                                </a:ln>
                                <a:solidFill>
                                  <a:srgbClr val="FFFF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kumimoji="0" lang="en-US" sz="3600" b="0" i="0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then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371" y="513194"/>
                <a:ext cx="9644743" cy="4362092"/>
              </a:xfrm>
              <a:prstGeom prst="rect">
                <a:avLst/>
              </a:prstGeom>
              <a:blipFill>
                <a:blip r:embed="rId2"/>
                <a:stretch>
                  <a:fillRect l="-1960" t="-2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412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3457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the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 touches the hyperbola</a:t>
                </a:r>
                <a:r>
                  <a:rPr kumimoji="0" lang="en-US" sz="3600" b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=45, 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±3√6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±6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±3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±4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3457678"/>
              </a:xfrm>
              <a:prstGeom prst="rect">
                <a:avLst/>
              </a:prstGeom>
              <a:blipFill>
                <a:blip r:embed="rId2"/>
                <a:stretch>
                  <a:fillRect l="-1960" t="-2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0897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the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 be a tangent to the hyperbola </a:t>
                </a: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36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−25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=3600,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 then</a:t>
                </a: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λ</m:t>
                    </m:r>
                    <m:r>
                      <a:rPr kumimoji="0" lang="en-US" sz="3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equal to 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16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-16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16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None of these</a:t>
                </a:r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3970318"/>
              </a:xfrm>
              <a:prstGeom prst="rect">
                <a:avLst/>
              </a:prstGeom>
              <a:blipFill>
                <a:blip r:embed="rId2"/>
                <a:stretch>
                  <a:fillRect l="-1960" t="-2458" b="-4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60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59428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foci of a hyperbola coincide with the foci of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. If the eccentricity of the hyperbola is 2,</a:t>
                </a:r>
                <a:r>
                  <a:rPr kumimoji="0" lang="en-US" sz="3600" b="0" i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 then the equation of the tangent of this hyperbola passing through the point(4,6)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i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is.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2x-y-2=0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i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3x-2y=0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2x-3y+10=0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kumimoji="0" lang="en-US" sz="3600" b="0" i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-2y+8=0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5942845"/>
              </a:xfrm>
              <a:prstGeom prst="rect">
                <a:avLst/>
              </a:prstGeom>
              <a:blipFill>
                <a:blip r:embed="rId2"/>
                <a:stretch>
                  <a:fillRect l="-1960" t="-1641" r="-1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7655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273628" y="549479"/>
                <a:ext cx="9644743" cy="4280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product of the length of the perpendiculars drawn from foci on any tangent to the hyperbola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b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b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, is 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600" b="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3600" b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628" y="549479"/>
                <a:ext cx="9644743" cy="4280339"/>
              </a:xfrm>
              <a:prstGeom prst="rect">
                <a:avLst/>
              </a:prstGeom>
              <a:blipFill>
                <a:blip r:embed="rId2"/>
                <a:stretch>
                  <a:fillRect l="-1960" t="-2137" r="-2276" b="-4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4015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273628" y="549479"/>
                <a:ext cx="9644743" cy="3970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equation of the asymptotes of the hyperbola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2</m:t>
                      </m:r>
                      <m:sSup>
                        <m:sSup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n-US" sz="3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x</m:t>
                          </m:r>
                        </m:e>
                        <m:sup>
                          <m:r>
                            <a:rPr kumimoji="0" lang="en-US" sz="3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+5</m:t>
                      </m:r>
                      <m:r>
                        <m:rPr>
                          <m:sty m:val="p"/>
                        </m:rPr>
                        <a:rPr kumimoji="0" lang="en-US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xy</m:t>
                      </m:r>
                      <m:r>
                        <a:rPr kumimoji="0" lang="en-US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+2</m:t>
                      </m:r>
                      <m:sSup>
                        <m:sSupPr>
                          <m:ctrlPr>
                            <a:rPr kumimoji="0" lang="en-US" sz="3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en-US" sz="3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y</m:t>
                          </m:r>
                        </m:e>
                        <m:sup>
                          <m:r>
                            <a:rPr kumimoji="0" lang="en-US" sz="3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−11</m:t>
                      </m:r>
                      <m:r>
                        <m:rPr>
                          <m:sty m:val="p"/>
                        </m:rPr>
                        <a:rPr kumimoji="0" lang="en-US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x</m:t>
                      </m:r>
                      <m:r>
                        <a:rPr kumimoji="0" lang="en-US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−7</m:t>
                      </m:r>
                      <m:r>
                        <m:rPr>
                          <m:sty m:val="p"/>
                        </m:rPr>
                        <a:rPr kumimoji="0" lang="en-US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y</m:t>
                      </m:r>
                      <m:r>
                        <a:rPr kumimoji="0" lang="en-US" sz="3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−4=0</m:t>
                      </m:r>
                    </m:oMath>
                  </m:oMathPara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2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x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+5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xy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+2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y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−11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x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−7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y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−5=0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  <a:p>
                <a:pPr marL="742950" indent="-742950">
                  <a:buFontTx/>
                  <a:buAutoNum type="alphaLcParenBoth"/>
                </a:pP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2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x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+4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xy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+2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y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−7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x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−11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y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+5=0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indent="-742950">
                  <a:buFontTx/>
                  <a:buAutoNum type="alphaLcParenBoth"/>
                </a:pP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2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x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+5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xy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+2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y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−11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x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−7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y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+5=0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indent="-742950">
                  <a:buFontTx/>
                  <a:buAutoNum type="alphaLcParenBoth"/>
                </a:pPr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  <a:cs typeface="+mn-cs"/>
                  </a:rPr>
                  <a:t>None  of these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628" y="549479"/>
                <a:ext cx="9644743" cy="3970318"/>
              </a:xfrm>
              <a:prstGeom prst="rect">
                <a:avLst/>
              </a:prstGeom>
              <a:blipFill>
                <a:blip r:embed="rId2"/>
                <a:stretch>
                  <a:fillRect l="-1960" t="-2304" r="-1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9172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273628" y="752679"/>
                <a:ext cx="9644743" cy="4055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equation of the hyperbola whose asymptotes are </a:t>
                </a: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±5</m:t>
                    </m:r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vertices are (</a:t>
                </a: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±5,0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=25</m:t>
                    </m:r>
                  </m:oMath>
                </a14:m>
                <a:endParaRPr lang="en-US" sz="3600" b="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=25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−25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=225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−9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=225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628" y="752679"/>
                <a:ext cx="9644743" cy="4055021"/>
              </a:xfrm>
              <a:prstGeom prst="rect">
                <a:avLst/>
              </a:prstGeom>
              <a:blipFill>
                <a:blip r:embed="rId2"/>
                <a:stretch>
                  <a:fillRect l="-1960" t="-2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9543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273628" y="549479"/>
                <a:ext cx="9644743" cy="55204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product of the  perpendiculars from any point on the hyperbola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b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b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b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en-US" sz="3600" b="0" i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to its</a:t>
                </a:r>
                <a:r>
                  <a:rPr kumimoji="0" lang="en-US" sz="3600" b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 asymptotes is equal to 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b="0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3600" b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b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600" b="0" i="0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600" b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b="0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600" b="0" i="0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ab</m:t>
                        </m:r>
                      </m:num>
                      <m:den>
                        <m:sSup>
                          <m:sSupPr>
                            <m:ctrlPr>
                              <a:rPr lang="en-US" sz="3600" b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600" b="0" i="0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600" b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b="0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3600" b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US" sz="3600" b="0" i="0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</m:t>
                        </m:r>
                        <m:r>
                          <a:rPr lang="en-US" sz="3600" b="0" i="0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3600" b="0" i="0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den>
                    </m:f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600" b="0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0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600" b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3600" b="0" i="0" baseline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600" b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en-US" sz="3600" b="0" i="0" baseline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628" y="549479"/>
                <a:ext cx="9644743" cy="5520422"/>
              </a:xfrm>
              <a:prstGeom prst="rect">
                <a:avLst/>
              </a:prstGeom>
              <a:blipFill>
                <a:blip r:embed="rId2"/>
                <a:stretch>
                  <a:fillRect l="-1960" t="-1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379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/>
              <p:nvPr/>
            </p:nvSpPr>
            <p:spPr>
              <a:xfrm>
                <a:off x="1273628" y="549479"/>
                <a:ext cx="9644743" cy="3977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36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6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are the eccentricities</a:t>
                </a:r>
                <a:r>
                  <a:rPr kumimoji="0" lang="en-US" sz="3600" b="0" u="none" strike="noStrike" kern="1200" cap="none" spc="0" normalizeH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 of hyperbolas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3600" b="0" i="0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xy</m:t>
                    </m:r>
                    <m:r>
                      <a:rPr kumimoji="0" lang="en-US" sz="3600" b="0" i="0" u="none" strike="noStrike" kern="1200" cap="none" spc="0" normalizeH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, then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kumimoji="0" lang="en-US" sz="3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0" lang="en-US" sz="3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0" lang="en-US" sz="3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6</a:t>
                </a:r>
              </a:p>
              <a:p>
                <a:pPr marL="742950" marR="0" lvl="0" indent="-7429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3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Cambria Math" panose="02040503050406030204" pitchFamily="18" charset="0"/>
                  </a:rPr>
                  <a:t>8</a:t>
                </a:r>
              </a:p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0" lang="en-US" sz="3600" b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FD068-2BE3-300F-C5DB-230DD827C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628" y="549479"/>
                <a:ext cx="9644743" cy="3977756"/>
              </a:xfrm>
              <a:prstGeom prst="rect">
                <a:avLst/>
              </a:prstGeom>
              <a:blipFill>
                <a:blip r:embed="rId2"/>
                <a:stretch>
                  <a:fillRect l="-1960" t="-2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425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BC91F3-5471-5AEB-069B-B40784F2EC35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3x+4y+K=0 is a tangent to the hyperbola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−16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=144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then the value of K is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0		(b) 1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– 1 		(d) – 3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BC91F3-5471-5AEB-069B-B40784F2E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2308324"/>
              </a:xfrm>
              <a:prstGeom prst="rect">
                <a:avLst/>
              </a:prstGeom>
              <a:blipFill>
                <a:blip r:embed="rId2"/>
                <a:stretch>
                  <a:fillRect l="-1960" t="-4222" b="-8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9231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ED9573-F96B-0F80-E7F7-744DC7E769CB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4037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foci of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the hyperbola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coincide, then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1 			(b) 5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7			(d) 9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[NIMCET 2015,2016]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ED9573-F96B-0F80-E7F7-744DC7E76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4037772"/>
              </a:xfrm>
              <a:prstGeom prst="rect">
                <a:avLst/>
              </a:prstGeom>
              <a:blipFill>
                <a:blip r:embed="rId2"/>
                <a:stretch>
                  <a:fillRect l="-1960" b="-4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9461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48BB0B-C522-EFBC-C995-59FD1C73DDE3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4036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equation of the hyperbola with </a:t>
                </a:r>
                <a:r>
                  <a:rPr lang="en-US" sz="3600" dirty="0" err="1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centre</a:t>
                </a: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at the origin, length of the transverse axis is 6 and one focus (0, 4) is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(b)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(d)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	[NIMCET 2017]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48BB0B-C522-EFBC-C995-59FD1C73D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4036490"/>
              </a:xfrm>
              <a:prstGeom prst="rect">
                <a:avLst/>
              </a:prstGeom>
              <a:blipFill>
                <a:blip r:embed="rId2"/>
                <a:stretch>
                  <a:fillRect l="-1960" t="-2417" r="-2212" b="-4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2343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EE651E-2D86-05C5-68A3-8FBBA7F86131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49502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Equation of the common tangents with positive slope to the circle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−8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as well as to the hyperbola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−20=0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(b)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60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+8=0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(d)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600" i="1" dirty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+4=0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[NIMCET 2018]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EE651E-2D86-05C5-68A3-8FBBA7F86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4950201"/>
              </a:xfrm>
              <a:prstGeom prst="rect">
                <a:avLst/>
              </a:prstGeom>
              <a:blipFill>
                <a:blip r:embed="rId2"/>
                <a:stretch>
                  <a:fillRect l="-1960" t="-1970" r="-2212" b="-3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003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EE651E-2D86-05C5-68A3-8FBBA7F86131}"/>
                  </a:ext>
                </a:extLst>
              </p:cNvPr>
              <p:cNvSpPr txBox="1"/>
              <p:nvPr/>
            </p:nvSpPr>
            <p:spPr>
              <a:xfrm>
                <a:off x="1328056" y="578508"/>
                <a:ext cx="9644743" cy="4037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 foci of the ellipse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and the hyperbola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144</m:t>
                        </m:r>
                      </m:den>
                    </m:f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are coincide , then the value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3600" dirty="0">
                  <a:solidFill>
                    <a:srgbClr val="FFFF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(a) 25		(b) 16		</a:t>
                </a:r>
                <a:b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(c) 64		(d) 49</a:t>
                </a:r>
              </a:p>
              <a:p>
                <a:pPr algn="r"/>
                <a:r>
                  <a:rPr lang="en-US" sz="3600" dirty="0">
                    <a:solidFill>
                      <a:srgbClr val="FFFF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[NIMCET 2022]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EE651E-2D86-05C5-68A3-8FBBA7F86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56" y="578508"/>
                <a:ext cx="9644743" cy="4037772"/>
              </a:xfrm>
              <a:prstGeom prst="rect">
                <a:avLst/>
              </a:prstGeom>
              <a:blipFill>
                <a:blip r:embed="rId2"/>
                <a:stretch>
                  <a:fillRect l="-1960" r="-1896" b="-4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19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3066</TotalTime>
  <Words>1274</Words>
  <Application>Microsoft Office PowerPoint</Application>
  <PresentationFormat>Widescreen</PresentationFormat>
  <Paragraphs>133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Aspire Study</dc:creator>
  <cp:lastModifiedBy>Aspire Study</cp:lastModifiedBy>
  <cp:revision>32</cp:revision>
  <dcterms:created xsi:type="dcterms:W3CDTF">2023-05-04T11:59:42Z</dcterms:created>
  <dcterms:modified xsi:type="dcterms:W3CDTF">2023-05-26T18:00:06Z</dcterms:modified>
</cp:coreProperties>
</file>